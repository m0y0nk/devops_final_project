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6858000" cx="1218895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drive.google.com/file/d/1gGLpW7rkmurr0GYscdxShKA2NhOLaLA5/view" TargetMode="External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097280" y="1005840"/>
            <a:ext cx="9994392" cy="48463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389120" y="1463040"/>
            <a:ext cx="3383280" cy="347472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DEVOPS ENGINEERING WALKTHROUGH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371600" y="2011680"/>
            <a:ext cx="944575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LabTrack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71600" y="2971800"/>
            <a:ext cx="944575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Automated End-to-End DevOps Lifecycle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828800" y="3520440"/>
            <a:ext cx="85313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From local code commit to a multi-container cloud deployment with automated CI/CD, Kubernetes &amp; 24/7 observability.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3657600" y="4297680"/>
            <a:ext cx="4873752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508760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1508760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/ React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3063239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3063239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 Containers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>
            <a:off x="4617720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17720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 Actions CI/CD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6172200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6172200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AWS EKS Cluster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7726679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 txBox="1"/>
          <p:nvPr/>
        </p:nvSpPr>
        <p:spPr>
          <a:xfrm>
            <a:off x="7726679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Terraform IaC</a:t>
            </a: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9281160" y="4572000"/>
            <a:ext cx="1444752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9281160" y="4645152"/>
            <a:ext cx="144475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Prometheus &amp; Grafana</a:t>
            </a:r>
            <a:endParaRPr/>
          </a:p>
        </p:txBody>
      </p:sp>
      <p:sp>
        <p:nvSpPr>
          <p:cNvPr id="104" name="Google Shape;104;p13"/>
          <p:cNvSpPr txBox="1"/>
          <p:nvPr/>
        </p:nvSpPr>
        <p:spPr>
          <a:xfrm>
            <a:off x="1371600" y="5303520"/>
            <a:ext cx="9445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Author: Mayank Soni  •  DevOps Final Project  •  Cloud &amp; Automation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01 / 30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LabTrack?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cloud-native task management application built to demonstrate modern DevOps practices.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548640" y="1234440"/>
            <a:ext cx="5669280" cy="1508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4"/>
          <p:cNvSpPr txBox="1"/>
          <p:nvPr/>
        </p:nvSpPr>
        <p:spPr>
          <a:xfrm>
            <a:off x="777240" y="146304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508760" y="143560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Visual Kanban Management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508760" y="182880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Interactive task board where users create, update, and track tasks across To Do, In Progress, and Completed states.</a:t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548640" y="2926080"/>
            <a:ext cx="5669280" cy="1508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777240" y="315468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508760" y="312724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Real-Time RESTful API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508760" y="352044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High-performance FastAPI backend handling instant data synchronization and validated requests.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548640" y="4617720"/>
            <a:ext cx="5669280" cy="1508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 txBox="1"/>
          <p:nvPr/>
        </p:nvSpPr>
        <p:spPr>
          <a:xfrm>
            <a:off x="777240" y="484632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💾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508760" y="4818888"/>
            <a:ext cx="4480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Persistent Relational Database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508760" y="5212080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PostgreSQL database with strict ACID compliance, ensuring tasks and audit logs are safely preserved.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492240" y="1234440"/>
            <a:ext cx="512064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6766560" y="1508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APPLICATION ARCHITECTURE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766560" y="1874519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Designed as decoupled 3-tier microservices ready for cloud scaling: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6766560" y="2514600"/>
            <a:ext cx="4572000" cy="1051560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270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 txBox="1"/>
          <p:nvPr/>
        </p:nvSpPr>
        <p:spPr>
          <a:xfrm>
            <a:off x="6949440" y="26974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7498079" y="267919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Frontend UI  •  React (JavaScript)</a:t>
            </a:r>
            <a:endParaRPr/>
          </a:p>
        </p:txBody>
      </p:sp>
      <p:sp>
        <p:nvSpPr>
          <p:cNvPr id="134" name="Google Shape;134;p14"/>
          <p:cNvSpPr txBox="1"/>
          <p:nvPr/>
        </p:nvSpPr>
        <p:spPr>
          <a:xfrm>
            <a:off x="7498079" y="301752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Responsive client running in user browser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8595360" y="353872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  JSON / HTTP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6766560" y="3749039"/>
            <a:ext cx="4572000" cy="1051560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6949440" y="39319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7498079" y="3913631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Backend API  •  FastAPI (Python)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7498079" y="4251959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Microservice handling business logic &amp; auth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8595360" y="477316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▼  JSON / HTTP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6766560" y="4983480"/>
            <a:ext cx="4572000" cy="1051560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 txBox="1"/>
          <p:nvPr/>
        </p:nvSpPr>
        <p:spPr>
          <a:xfrm>
            <a:off x="6949440" y="5166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7498079" y="514807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Database  •  PostgreSQL 15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7498079" y="54864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Isolated relational storage with volume mounts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02 / 30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5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FOUNDATION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DevOps Loop — Continuous Lifecycle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DevOps unites software development and IT operations into an automated, non-stop loop.</a:t>
            </a: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/>
          <p:nvPr/>
        </p:nvSpPr>
        <p:spPr>
          <a:xfrm>
            <a:off x="548640" y="128016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777240" y="150876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1</a:t>
            </a:r>
            <a:endParaRPr/>
          </a:p>
        </p:txBody>
      </p:sp>
      <p:sp>
        <p:nvSpPr>
          <p:cNvPr id="158" name="Google Shape;158;p15"/>
          <p:cNvSpPr txBox="1"/>
          <p:nvPr/>
        </p:nvSpPr>
        <p:spPr>
          <a:xfrm>
            <a:off x="3017520" y="1463039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777240" y="2057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PLAN &amp; CODE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77240" y="25146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Feature development &amp; local tests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4389120" y="128016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EAE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4617720" y="150876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EAEE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2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858000" y="1463039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4617720" y="2057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AEEF6"/>
                </a:solidFill>
                <a:latin typeface="Calibri"/>
                <a:ea typeface="Calibri"/>
                <a:cs typeface="Calibri"/>
                <a:sym typeface="Calibri"/>
              </a:rPr>
              <a:t>GIT COMMIT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4617720" y="25146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Version control &amp; branch management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8229600" y="128016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8458200" y="150876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3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10698480" y="1463039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8458200" y="20574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CI / CD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8458200" y="251460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Automated testing &amp; vulnerability scan</a:t>
            </a: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8229600" y="393192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8458200" y="416052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0091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4</a:t>
            </a:r>
            <a:endParaRPr/>
          </a:p>
        </p:txBody>
      </p:sp>
      <p:sp>
        <p:nvSpPr>
          <p:cNvPr id="173" name="Google Shape;173;p15"/>
          <p:cNvSpPr txBox="1"/>
          <p:nvPr/>
        </p:nvSpPr>
        <p:spPr>
          <a:xfrm>
            <a:off x="10698480" y="4114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🐳</a:t>
            </a:r>
            <a:endParaRPr/>
          </a:p>
        </p:txBody>
      </p:sp>
      <p:sp>
        <p:nvSpPr>
          <p:cNvPr id="174" name="Google Shape;174;p15"/>
          <p:cNvSpPr txBox="1"/>
          <p:nvPr/>
        </p:nvSpPr>
        <p:spPr>
          <a:xfrm>
            <a:off x="8458200" y="470915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CONTAINER</a:t>
            </a:r>
            <a:endParaRPr/>
          </a:p>
        </p:txBody>
      </p:sp>
      <p:sp>
        <p:nvSpPr>
          <p:cNvPr id="175" name="Google Shape;175;p15"/>
          <p:cNvSpPr txBox="1"/>
          <p:nvPr/>
        </p:nvSpPr>
        <p:spPr>
          <a:xfrm>
            <a:off x="8458200" y="51663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Immutable Docker packaging</a:t>
            </a: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4389120" y="393192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5"/>
          <p:cNvSpPr/>
          <p:nvPr/>
        </p:nvSpPr>
        <p:spPr>
          <a:xfrm>
            <a:off x="4617720" y="416052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5</a:t>
            </a:r>
            <a:endParaRPr/>
          </a:p>
        </p:txBody>
      </p:sp>
      <p:sp>
        <p:nvSpPr>
          <p:cNvPr id="178" name="Google Shape;178;p15"/>
          <p:cNvSpPr txBox="1"/>
          <p:nvPr/>
        </p:nvSpPr>
        <p:spPr>
          <a:xfrm>
            <a:off x="6858000" y="4114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4617720" y="470915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DEPLOY (K8S)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4617720" y="51663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Rolling update on AWS EKS</a:t>
            </a: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548640" y="3931920"/>
            <a:ext cx="3383280" cy="22860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77240" y="4160520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STAGE 6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3017520" y="411480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777240" y="4709159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777240" y="5166360"/>
            <a:ext cx="29260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24/7 Prometheus metrics &amp; Grafana</a:t>
            </a: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4549112" y="2891789"/>
            <a:ext cx="3063300" cy="571500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4572050" y="3085127"/>
            <a:ext cx="3017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  Feedback Loop: Seconds, Not Months</a:t>
            </a:r>
            <a:endParaRPr/>
          </a:p>
        </p:txBody>
      </p:sp>
      <p:sp>
        <p:nvSpPr>
          <p:cNvPr id="188" name="Google Shape;188;p15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03 / 30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1 · CODE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Development &amp; REST API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Clean code architecture with Python FastAPI, modular routers, and data schemas.</a:t>
            </a:r>
            <a:endParaRPr/>
          </a:p>
        </p:txBody>
      </p:sp>
      <p:sp>
        <p:nvSpPr>
          <p:cNvPr id="198" name="Google Shape;198;p16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 txBox="1"/>
          <p:nvPr/>
        </p:nvSpPr>
        <p:spPr>
          <a:xfrm>
            <a:off x="822960" y="150876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API DESIGN &amp; BEST PRACTICES</a:t>
            </a:r>
            <a:endParaRPr/>
          </a:p>
        </p:txBody>
      </p:sp>
      <p:sp>
        <p:nvSpPr>
          <p:cNvPr id="201" name="Google Shape;201;p16"/>
          <p:cNvSpPr txBox="1"/>
          <p:nvPr/>
        </p:nvSpPr>
        <p:spPr>
          <a:xfrm>
            <a:off x="822960" y="205740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RESTful Endpoints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1097280" y="235000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Complete CRUD operations: /api/tasks (GET, POST, PUT, DELETE) adhering to HTTP semantics.</a:t>
            </a:r>
            <a:endParaRPr/>
          </a:p>
        </p:txBody>
      </p:sp>
      <p:sp>
        <p:nvSpPr>
          <p:cNvPr id="203" name="Google Shape;203;p16"/>
          <p:cNvSpPr txBox="1"/>
          <p:nvPr/>
        </p:nvSpPr>
        <p:spPr>
          <a:xfrm>
            <a:off x="822960" y="310896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Type Safety &amp; Pydantic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1097280" y="340156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Input validation models verify every incoming payload before it reaches business logic.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822960" y="416052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ORM Data Layer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1097280" y="445312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SQLAlchemy maps database records to Python objects without writing raw, unsafe SQL.</a:t>
            </a:r>
            <a:endParaRPr/>
          </a:p>
        </p:txBody>
      </p:sp>
      <p:sp>
        <p:nvSpPr>
          <p:cNvPr id="207" name="Google Shape;207;p16"/>
          <p:cNvSpPr txBox="1"/>
          <p:nvPr/>
        </p:nvSpPr>
        <p:spPr>
          <a:xfrm>
            <a:off x="822960" y="5212079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•  Decoupled Architecture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1097280" y="5504688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Stateless API server allows horizontal scaling across multiple Kubernetes pods effortlessly.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060A12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6"/>
          <p:cNvSpPr txBox="1"/>
          <p:nvPr/>
        </p:nvSpPr>
        <p:spPr>
          <a:xfrm>
            <a:off x="6492240" y="1463040"/>
            <a:ext cx="4846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main.py  •  FastAPI Endpoint</a:t>
            </a:r>
            <a:endParaRPr/>
          </a:p>
        </p:txBody>
      </p:sp>
      <p:sp>
        <p:nvSpPr>
          <p:cNvPr id="211" name="Google Shape;211;p16"/>
          <p:cNvSpPr txBox="1"/>
          <p:nvPr/>
        </p:nvSpPr>
        <p:spPr>
          <a:xfrm>
            <a:off x="6492240" y="1920240"/>
            <a:ext cx="484632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# REST API: Create Task Endpoint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@app.post('/api/tasks', response_model=TaskResponse)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def create_task(task: TaskCreate, db: Session = Depends(get_db)):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"""Validate schema, insert record, return JSON"""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new_task = TaskModel(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    title=task.title,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    description=task.description,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    status=TaskStatus.TODO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db.add(new_task)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db.commit()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db.refresh(new_task)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# Increment Prometheus metrics counter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TASK_CREATED_COUNTER.inc()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new_task</a:t>
            </a: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# Ready for automated test suite 🧪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04 / 30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1 · QUALITY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Testing Suite with pytest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endpoint is backed by automated tests running locally and on every pull request.</a:t>
            </a:r>
            <a:endParaRPr/>
          </a:p>
        </p:txBody>
      </p:sp>
      <p:sp>
        <p:nvSpPr>
          <p:cNvPr id="222" name="Google Shape;222;p17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548640" y="1234440"/>
            <a:ext cx="68580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777175" y="1578400"/>
            <a:ext cx="6373500" cy="438900"/>
          </a:xfrm>
          <a:prstGeom prst="rect">
            <a:avLst/>
          </a:prstGeom>
          <a:solidFill>
            <a:srgbClr val="1620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994170" y="1705468"/>
            <a:ext cx="6492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Terminal Execution: pytest -v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4276284" y="1720906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100% Tests Passed</a:t>
            </a:r>
            <a:endParaRPr/>
          </a:p>
        </p:txBody>
      </p:sp>
      <p:pic>
        <p:nvPicPr>
          <p:cNvPr descr="pytest.png" id="227" name="Google Shape;2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398448"/>
            <a:ext cx="6583680" cy="3222391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7"/>
          <p:cNvSpPr/>
          <p:nvPr/>
        </p:nvSpPr>
        <p:spPr>
          <a:xfrm>
            <a:off x="7680960" y="1234440"/>
            <a:ext cx="39319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7955279" y="15087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TESTING STRATEGY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7955279" y="205740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Zero Manual Testing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7955279" y="235000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Tests execute in milliseconds, validating API responses, status codes, and database state.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7955279" y="31089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Isolated SQLite DB</a:t>
            </a:r>
            <a:endParaRPr/>
          </a:p>
        </p:txBody>
      </p:sp>
      <p:sp>
        <p:nvSpPr>
          <p:cNvPr id="233" name="Google Shape;233;p17"/>
          <p:cNvSpPr txBox="1"/>
          <p:nvPr/>
        </p:nvSpPr>
        <p:spPr>
          <a:xfrm>
            <a:off x="7955279" y="340156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Test suite runs against an in-memory database to prevent test pollution and run fast.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7955279" y="41605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Fail-Fast Gatekeeper</a:t>
            </a:r>
            <a:endParaRPr/>
          </a:p>
        </p:txBody>
      </p:sp>
      <p:sp>
        <p:nvSpPr>
          <p:cNvPr id="235" name="Google Shape;235;p17"/>
          <p:cNvSpPr txBox="1"/>
          <p:nvPr/>
        </p:nvSpPr>
        <p:spPr>
          <a:xfrm>
            <a:off x="7955279" y="445312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even 1 assertion fails, the developer cannot merge code and CI pipeline aborts.</a:t>
            </a:r>
            <a:endParaRPr/>
          </a:p>
        </p:txBody>
      </p:sp>
      <p:sp>
        <p:nvSpPr>
          <p:cNvPr id="236" name="Google Shape;236;p17"/>
          <p:cNvSpPr txBox="1"/>
          <p:nvPr/>
        </p:nvSpPr>
        <p:spPr>
          <a:xfrm>
            <a:off x="7955279" y="5212079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✔  Edge Case Coverage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7955279" y="5504688"/>
            <a:ext cx="3383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Covers empty payloads, invalid IDs, duplicate entries, and database disconnects.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05 / 30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2 · CONTAINERS</a:t>
            </a:r>
            <a:endParaRPr/>
          </a:p>
        </p:txBody>
      </p:sp>
      <p:sp>
        <p:nvSpPr>
          <p:cNvPr id="246" name="Google Shape;246;p18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Containerisation with Docker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Packaging application code and all dependencies into immutable, portable images.</a:t>
            </a:r>
            <a:endParaRPr/>
          </a:p>
        </p:txBody>
      </p:sp>
      <p:sp>
        <p:nvSpPr>
          <p:cNvPr id="248" name="Google Shape;248;p18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8"/>
          <p:cNvSpPr/>
          <p:nvPr/>
        </p:nvSpPr>
        <p:spPr>
          <a:xfrm>
            <a:off x="548640" y="1234440"/>
            <a:ext cx="11091672" cy="1371600"/>
          </a:xfrm>
          <a:prstGeom prst="roundRect">
            <a:avLst>
              <a:gd fmla="val 16667" name="adj"/>
            </a:avLst>
          </a:prstGeom>
          <a:solidFill>
            <a:srgbClr val="0A1A30"/>
          </a:solidFill>
          <a:ln cap="flat" cmpd="sng" w="19050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8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🚢   The Standardised Shipping Container Analogy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Before shipping containers, cargo had to be loaded piece-by-piece on every train and ship. Docker does the exact same for software: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it wraps your code, Python runtime, system libraries, and configs into one sealed box that runs identically on any laptop or cloud VM.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548640" y="2788920"/>
            <a:ext cx="5394960" cy="35204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822950" y="2898800"/>
            <a:ext cx="4800600" cy="365700"/>
          </a:xfrm>
          <a:prstGeom prst="rect">
            <a:avLst/>
          </a:prstGeom>
          <a:solidFill>
            <a:srgbClr val="1620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1008725" y="2898650"/>
            <a:ext cx="429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Dockerfile (FastAPI)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3017524" y="2916924"/>
            <a:ext cx="2281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Multi-stage Python</a:t>
            </a:r>
            <a:endParaRPr/>
          </a:p>
        </p:txBody>
      </p:sp>
      <p:pic>
        <p:nvPicPr>
          <p:cNvPr descr="1.png" id="256" name="Google Shape;2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2388" y="3355848"/>
            <a:ext cx="3547462" cy="2862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8"/>
          <p:cNvSpPr/>
          <p:nvPr/>
        </p:nvSpPr>
        <p:spPr>
          <a:xfrm>
            <a:off x="6217920" y="2788920"/>
            <a:ext cx="5394960" cy="35204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6511699" y="2898775"/>
            <a:ext cx="4800600" cy="438900"/>
          </a:xfrm>
          <a:prstGeom prst="rect">
            <a:avLst/>
          </a:prstGeom>
          <a:solidFill>
            <a:srgbClr val="1620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6611100" y="298924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Dockerfile (React + NGINX)</a:t>
            </a:r>
            <a:endParaRPr/>
          </a:p>
        </p:txBody>
      </p:sp>
      <p:sp>
        <p:nvSpPr>
          <p:cNvPr id="260" name="Google Shape;260;p18"/>
          <p:cNvSpPr txBox="1"/>
          <p:nvPr/>
        </p:nvSpPr>
        <p:spPr>
          <a:xfrm>
            <a:off x="8482525" y="2990211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Production Build</a:t>
            </a:r>
            <a:endParaRPr/>
          </a:p>
        </p:txBody>
      </p:sp>
      <p:pic>
        <p:nvPicPr>
          <p:cNvPr descr="2.png" id="261" name="Google Shape;26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2484" y="3355848"/>
            <a:ext cx="3545830" cy="286207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06 / 30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2 · CONTAINERS</a:t>
            </a:r>
            <a:endParaRPr/>
          </a:p>
        </p:txBody>
      </p:sp>
      <p:sp>
        <p:nvSpPr>
          <p:cNvPr id="270" name="Google Shape;270;p19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Multi-Service Orchestration — Docker Compose</a:t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Spinning up the complete 3-tier stack locally with a single command.</a:t>
            </a:r>
            <a:endParaRPr/>
          </a:p>
        </p:txBody>
      </p:sp>
      <p:sp>
        <p:nvSpPr>
          <p:cNvPr id="272" name="Google Shape;272;p19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9"/>
          <p:cNvSpPr/>
          <p:nvPr/>
        </p:nvSpPr>
        <p:spPr>
          <a:xfrm>
            <a:off x="1002001" y="1403600"/>
            <a:ext cx="6134100" cy="438900"/>
          </a:xfrm>
          <a:prstGeom prst="rect">
            <a:avLst/>
          </a:prstGeom>
          <a:solidFill>
            <a:srgbClr val="1620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1067170" y="1476756"/>
            <a:ext cx="676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compose up  •  Live Stack Running</a:t>
            </a:r>
            <a:endParaRPr/>
          </a:p>
        </p:txBody>
      </p:sp>
      <p:sp>
        <p:nvSpPr>
          <p:cNvPr id="276" name="Google Shape;276;p19"/>
          <p:cNvSpPr txBox="1"/>
          <p:nvPr/>
        </p:nvSpPr>
        <p:spPr>
          <a:xfrm>
            <a:off x="4087380" y="1527056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Services Active</a:t>
            </a:r>
            <a:endParaRPr/>
          </a:p>
        </p:txBody>
      </p:sp>
      <p:pic>
        <p:nvPicPr>
          <p:cNvPr descr="docker-evidence.png" id="277" name="Google Shape;2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1854272"/>
            <a:ext cx="6858000" cy="431074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9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9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LOCAL ENVIRONMENT</a:t>
            </a:r>
            <a:endParaRPr/>
          </a:p>
        </p:txBody>
      </p:sp>
      <p:sp>
        <p:nvSpPr>
          <p:cNvPr id="280" name="Google Shape;280;p19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One-Command Setup</a:t>
            </a:r>
            <a:endParaRPr/>
          </a:p>
        </p:txBody>
      </p:sp>
      <p:sp>
        <p:nvSpPr>
          <p:cNvPr id="281" name="Google Shape;281;p19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docker compose up spins up Backend, Frontend, and PostgreSQL with proper networking.</a:t>
            </a:r>
            <a:endParaRPr/>
          </a:p>
        </p:txBody>
      </p:sp>
      <p:sp>
        <p:nvSpPr>
          <p:cNvPr id="282" name="Google Shape;282;p19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Private Bridge Network</a:t>
            </a:r>
            <a:endParaRPr/>
          </a:p>
        </p:txBody>
      </p:sp>
      <p:sp>
        <p:nvSpPr>
          <p:cNvPr id="283" name="Google Shape;283;p19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Containers communicate securely using internal service DNS (e.g., http://backend:8000).</a:t>
            </a:r>
            <a:endParaRPr/>
          </a:p>
        </p:txBody>
      </p:sp>
      <p:sp>
        <p:nvSpPr>
          <p:cNvPr id="284" name="Google Shape;284;p19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Persistent Volumes</a:t>
            </a:r>
            <a:endParaRPr/>
          </a:p>
        </p:txBody>
      </p:sp>
      <p:sp>
        <p:nvSpPr>
          <p:cNvPr id="285" name="Google Shape;285;p19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Database records persist even when containers are stopped or restarted.</a:t>
            </a:r>
            <a:endParaRPr/>
          </a:p>
        </p:txBody>
      </p:sp>
      <p:sp>
        <p:nvSpPr>
          <p:cNvPr id="286" name="Google Shape;286;p19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  Environment Parity</a:t>
            </a:r>
            <a:endParaRPr/>
          </a:p>
        </p:txBody>
      </p:sp>
      <p:sp>
        <p:nvSpPr>
          <p:cNvPr id="287" name="Google Shape;287;p19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 developers run locally is identical to what gets deployed onto AWS EKS.</a:t>
            </a:r>
            <a:endParaRPr/>
          </a:p>
        </p:txBody>
      </p:sp>
      <p:sp>
        <p:nvSpPr>
          <p:cNvPr id="288" name="Google Shape;288;p19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07 / 30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2 · CONTAINERS</a:t>
            </a:r>
            <a:endParaRPr/>
          </a:p>
        </p:txBody>
      </p:sp>
      <p:sp>
        <p:nvSpPr>
          <p:cNvPr id="296" name="Google Shape;296;p20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Images &amp; Size Optimization</a:t>
            </a:r>
            <a:endParaRPr/>
          </a:p>
        </p:txBody>
      </p:sp>
      <p:sp>
        <p:nvSpPr>
          <p:cNvPr id="297" name="Google Shape;297;p20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Inspection of built container images, tags, and lightweight footprints.</a:t>
            </a:r>
            <a:endParaRPr/>
          </a:p>
        </p:txBody>
      </p:sp>
      <p:sp>
        <p:nvSpPr>
          <p:cNvPr id="298" name="Google Shape;298;p20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/>
          <p:nvPr/>
        </p:nvSpPr>
        <p:spPr>
          <a:xfrm>
            <a:off x="548640" y="1234440"/>
            <a:ext cx="11091672" cy="292608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0"/>
          <p:cNvSpPr/>
          <p:nvPr/>
        </p:nvSpPr>
        <p:spPr>
          <a:xfrm>
            <a:off x="1125450" y="1298425"/>
            <a:ext cx="9936900" cy="411600"/>
          </a:xfrm>
          <a:prstGeom prst="rect">
            <a:avLst/>
          </a:prstGeom>
          <a:solidFill>
            <a:srgbClr val="16203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0"/>
          <p:cNvSpPr txBox="1"/>
          <p:nvPr/>
        </p:nvSpPr>
        <p:spPr>
          <a:xfrm>
            <a:off x="1371600" y="1380725"/>
            <a:ext cx="10085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images — Tagged Build Artifacts</a:t>
            </a:r>
            <a:endParaRPr/>
          </a:p>
        </p:txBody>
      </p:sp>
      <p:sp>
        <p:nvSpPr>
          <p:cNvPr id="302" name="Google Shape;302;p20"/>
          <p:cNvSpPr txBox="1"/>
          <p:nvPr/>
        </p:nvSpPr>
        <p:spPr>
          <a:xfrm>
            <a:off x="8714227" y="1389899"/>
            <a:ext cx="1910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Local Registry Inspection</a:t>
            </a:r>
            <a:endParaRPr/>
          </a:p>
        </p:txBody>
      </p:sp>
      <p:pic>
        <p:nvPicPr>
          <p:cNvPr descr="3.png" id="303" name="Google Shape;3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09819" y="1801368"/>
            <a:ext cx="4769313" cy="2267712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0"/>
          <p:cNvSpPr/>
          <p:nvPr/>
        </p:nvSpPr>
        <p:spPr>
          <a:xfrm>
            <a:off x="548640" y="4343400"/>
            <a:ext cx="3520440" cy="19659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0"/>
          <p:cNvSpPr txBox="1"/>
          <p:nvPr/>
        </p:nvSpPr>
        <p:spPr>
          <a:xfrm>
            <a:off x="777240" y="45262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🪶</a:t>
            </a:r>
            <a:endParaRPr/>
          </a:p>
        </p:txBody>
      </p:sp>
      <p:sp>
        <p:nvSpPr>
          <p:cNvPr id="306" name="Google Shape;306;p20"/>
          <p:cNvSpPr txBox="1"/>
          <p:nvPr/>
        </p:nvSpPr>
        <p:spPr>
          <a:xfrm>
            <a:off x="1371600" y="4526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Multi-Stage Builds</a:t>
            </a:r>
            <a:endParaRPr/>
          </a:p>
        </p:txBody>
      </p:sp>
      <p:sp>
        <p:nvSpPr>
          <p:cNvPr id="307" name="Google Shape;307;p20"/>
          <p:cNvSpPr txBox="1"/>
          <p:nvPr/>
        </p:nvSpPr>
        <p:spPr>
          <a:xfrm>
            <a:off x="777240" y="498348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Compiler tools are discarded after building, keeping final production images small and fast to download.</a:t>
            </a:r>
            <a:endParaRPr/>
          </a:p>
        </p:txBody>
      </p:sp>
      <p:sp>
        <p:nvSpPr>
          <p:cNvPr id="308" name="Google Shape;308;p20"/>
          <p:cNvSpPr/>
          <p:nvPr/>
        </p:nvSpPr>
        <p:spPr>
          <a:xfrm>
            <a:off x="4343400" y="4343400"/>
            <a:ext cx="3520440" cy="19659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0"/>
          <p:cNvSpPr txBox="1"/>
          <p:nvPr/>
        </p:nvSpPr>
        <p:spPr>
          <a:xfrm>
            <a:off x="4572000" y="45262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🏷️</a:t>
            </a:r>
            <a:endParaRPr/>
          </a:p>
        </p:txBody>
      </p:sp>
      <p:sp>
        <p:nvSpPr>
          <p:cNvPr id="310" name="Google Shape;310;p20"/>
          <p:cNvSpPr txBox="1"/>
          <p:nvPr/>
        </p:nvSpPr>
        <p:spPr>
          <a:xfrm>
            <a:off x="5166360" y="4526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Semantic Versioning</a:t>
            </a:r>
            <a:endParaRPr/>
          </a:p>
        </p:txBody>
      </p:sp>
      <p:sp>
        <p:nvSpPr>
          <p:cNvPr id="311" name="Google Shape;311;p20"/>
          <p:cNvSpPr txBox="1"/>
          <p:nvPr/>
        </p:nvSpPr>
        <p:spPr>
          <a:xfrm>
            <a:off x="4572000" y="498348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Images are tagged with commit SHA and release numbers for precise traceability and rollbacks.</a:t>
            </a:r>
            <a:endParaRPr/>
          </a:p>
        </p:txBody>
      </p:sp>
      <p:sp>
        <p:nvSpPr>
          <p:cNvPr id="312" name="Google Shape;312;p20"/>
          <p:cNvSpPr/>
          <p:nvPr/>
        </p:nvSpPr>
        <p:spPr>
          <a:xfrm>
            <a:off x="8138160" y="4343400"/>
            <a:ext cx="3520440" cy="19659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0"/>
          <p:cNvSpPr txBox="1"/>
          <p:nvPr/>
        </p:nvSpPr>
        <p:spPr>
          <a:xfrm>
            <a:off x="8366760" y="4526280"/>
            <a:ext cx="548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/>
          </a:p>
        </p:txBody>
      </p:sp>
      <p:sp>
        <p:nvSpPr>
          <p:cNvPr id="314" name="Google Shape;314;p20"/>
          <p:cNvSpPr txBox="1"/>
          <p:nvPr/>
        </p:nvSpPr>
        <p:spPr>
          <a:xfrm>
            <a:off x="8961120" y="45262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Non-Root Users</a:t>
            </a:r>
            <a:endParaRPr/>
          </a:p>
        </p:txBody>
      </p:sp>
      <p:sp>
        <p:nvSpPr>
          <p:cNvPr id="315" name="Google Shape;315;p20"/>
          <p:cNvSpPr txBox="1"/>
          <p:nvPr/>
        </p:nvSpPr>
        <p:spPr>
          <a:xfrm>
            <a:off x="8366760" y="4983480"/>
            <a:ext cx="306324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Containers run as unprivileged users to mitigate privilege escalation risks in production.</a:t>
            </a:r>
            <a:endParaRPr/>
          </a:p>
        </p:txBody>
      </p:sp>
      <p:sp>
        <p:nvSpPr>
          <p:cNvPr id="316" name="Google Shape;316;p20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08 / 30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3 · GIT</a:t>
            </a:r>
            <a:endParaRPr/>
          </a:p>
        </p:txBody>
      </p:sp>
      <p:sp>
        <p:nvSpPr>
          <p:cNvPr id="324" name="Google Shape;324;p21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Version Control — GitHub Repository</a:t>
            </a:r>
            <a:endParaRPr/>
          </a:p>
        </p:txBody>
      </p:sp>
      <p:sp>
        <p:nvSpPr>
          <p:cNvPr id="325" name="Google Shape;325;p21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Centralized code repository maintaining project history, branches, and automation triggers.</a:t>
            </a:r>
            <a:endParaRPr/>
          </a:p>
        </p:txBody>
      </p:sp>
      <p:sp>
        <p:nvSpPr>
          <p:cNvPr id="326" name="Google Shape;326;p21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AE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1"/>
          <p:cNvSpPr txBox="1"/>
          <p:nvPr/>
        </p:nvSpPr>
        <p:spPr>
          <a:xfrm>
            <a:off x="1315125" y="1380725"/>
            <a:ext cx="618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Packages</a:t>
            </a:r>
            <a:endParaRPr/>
          </a:p>
        </p:txBody>
      </p:sp>
      <p:sp>
        <p:nvSpPr>
          <p:cNvPr id="329" name="Google Shape;329;p21"/>
          <p:cNvSpPr txBox="1"/>
          <p:nvPr/>
        </p:nvSpPr>
        <p:spPr>
          <a:xfrm>
            <a:off x="4754876" y="1389899"/>
            <a:ext cx="2148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m0y0nk/DevOps_Final_Project</a:t>
            </a:r>
            <a:endParaRPr/>
          </a:p>
        </p:txBody>
      </p:sp>
      <p:pic>
        <p:nvPicPr>
          <p:cNvPr descr="image8.png" id="330" name="Google Shape;33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066543"/>
            <a:ext cx="685800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1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AEEF6"/>
                </a:solidFill>
                <a:latin typeface="Calibri"/>
                <a:ea typeface="Calibri"/>
                <a:cs typeface="Calibri"/>
                <a:sym typeface="Calibri"/>
              </a:rPr>
              <a:t>GIT WORKFLOW</a:t>
            </a:r>
            <a:endParaRPr/>
          </a:p>
        </p:txBody>
      </p:sp>
      <p:sp>
        <p:nvSpPr>
          <p:cNvPr id="333" name="Google Shape;333;p21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Single Source of Truth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All application code, Kubernetes manifests, Helm charts, and Terraform scripts live in one place.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Clean Directory Layout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Strict separation of concerns between /backend, /frontend, /k8s, and /terraform.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Branch Protection</a:t>
            </a:r>
            <a:endParaRPr/>
          </a:p>
        </p:txBody>
      </p:sp>
      <p:sp>
        <p:nvSpPr>
          <p:cNvPr id="338" name="Google Shape;338;p21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Changes are committed with meaningful messages, triggering CI/CD checks automatically.</a:t>
            </a:r>
            <a:endParaRPr/>
          </a:p>
        </p:txBody>
      </p:sp>
      <p:sp>
        <p:nvSpPr>
          <p:cNvPr id="339" name="Google Shape;339;p21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🌿  Full Auditability</a:t>
            </a:r>
            <a:endParaRPr/>
          </a:p>
        </p:txBody>
      </p:sp>
      <p:sp>
        <p:nvSpPr>
          <p:cNvPr id="340" name="Google Shape;340;p21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Every line of code is attributed to a developer with full history and diff view.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09 / 30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3 · GIT</a:t>
            </a:r>
            <a:endParaRPr/>
          </a:p>
        </p:txBody>
      </p:sp>
      <p:sp>
        <p:nvSpPr>
          <p:cNvPr id="349" name="Google Shape;349;p22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Tracking Code Changes — Recent Commits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Inspecting atomic commits for features and infrastructure updates.</a:t>
            </a:r>
            <a:endParaRPr/>
          </a:p>
        </p:txBody>
      </p:sp>
      <p:sp>
        <p:nvSpPr>
          <p:cNvPr id="351" name="Google Shape;351;p22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AE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731533" y="211021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Code &amp; Pipeline Updates</a:t>
            </a:r>
            <a:endParaRPr/>
          </a:p>
        </p:txBody>
      </p:sp>
      <p:pic>
        <p:nvPicPr>
          <p:cNvPr descr="1.png" id="354" name="Google Shape;35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560537"/>
            <a:ext cx="5120640" cy="2898212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2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AE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 txBox="1"/>
          <p:nvPr/>
        </p:nvSpPr>
        <p:spPr>
          <a:xfrm>
            <a:off x="6400800" y="211021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</a:t>
            </a: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— Kubernetes &amp; Helm Configs</a:t>
            </a:r>
            <a:endParaRPr/>
          </a:p>
        </p:txBody>
      </p:sp>
      <p:pic>
        <p:nvPicPr>
          <p:cNvPr descr="2.png" id="357" name="Google Shape;35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2451351"/>
            <a:ext cx="5120640" cy="311658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2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30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3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3 · GIT</a:t>
            </a:r>
            <a:endParaRPr/>
          </a:p>
        </p:txBody>
      </p:sp>
      <p:sp>
        <p:nvSpPr>
          <p:cNvPr id="366" name="Google Shape;366;p23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Production Release Commit — Triggering CI/CD</a:t>
            </a:r>
            <a:endParaRPr/>
          </a:p>
        </p:txBody>
      </p:sp>
      <p:sp>
        <p:nvSpPr>
          <p:cNvPr id="367" name="Google Shape;367;p23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Pushing changes to GitHub triggers the automated build and deployment webhook.</a:t>
            </a:r>
            <a:endParaRPr/>
          </a:p>
        </p:txBody>
      </p:sp>
      <p:sp>
        <p:nvSpPr>
          <p:cNvPr id="368" name="Google Shape;368;p23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3"/>
          <p:cNvSpPr/>
          <p:nvPr/>
        </p:nvSpPr>
        <p:spPr>
          <a:xfrm>
            <a:off x="548640" y="1234440"/>
            <a:ext cx="11091672" cy="27432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AE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731520" y="1344168"/>
            <a:ext cx="1072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Commit — Production Release Trigger</a:t>
            </a:r>
            <a:endParaRPr/>
          </a:p>
        </p:txBody>
      </p:sp>
      <p:pic>
        <p:nvPicPr>
          <p:cNvPr descr="3.png" id="371" name="Google Shape;37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2557" y="1801368"/>
            <a:ext cx="6323836" cy="208483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23"/>
          <p:cNvSpPr/>
          <p:nvPr/>
        </p:nvSpPr>
        <p:spPr>
          <a:xfrm>
            <a:off x="548640" y="4160520"/>
            <a:ext cx="5394960" cy="21488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3"/>
          <p:cNvSpPr txBox="1"/>
          <p:nvPr/>
        </p:nvSpPr>
        <p:spPr>
          <a:xfrm>
            <a:off x="822960" y="4343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WHAT HAPPENS ON GIT PUSH?</a:t>
            </a:r>
            <a:endParaRPr/>
          </a:p>
        </p:txBody>
      </p:sp>
      <p:sp>
        <p:nvSpPr>
          <p:cNvPr id="374" name="Google Shape;374;p23"/>
          <p:cNvSpPr txBox="1"/>
          <p:nvPr/>
        </p:nvSpPr>
        <p:spPr>
          <a:xfrm>
            <a:off x="822960" y="47091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1. Developer runs `git push origin main`.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2. GitHub receives code and validates branch permissions.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3. Webhook sends event payload to GitHub Actions runner.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4. Continuous Integration workflow begins immediately.</a:t>
            </a:r>
            <a:endParaRPr/>
          </a:p>
        </p:txBody>
      </p:sp>
      <p:sp>
        <p:nvSpPr>
          <p:cNvPr id="375" name="Google Shape;375;p23"/>
          <p:cNvSpPr/>
          <p:nvPr/>
        </p:nvSpPr>
        <p:spPr>
          <a:xfrm>
            <a:off x="6217920" y="4160520"/>
            <a:ext cx="5394960" cy="214884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 txBox="1"/>
          <p:nvPr/>
        </p:nvSpPr>
        <p:spPr>
          <a:xfrm>
            <a:off x="6492240" y="4343400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BENEFITS OF ATOMIC COMMITS</a:t>
            </a:r>
            <a:endParaRPr/>
          </a:p>
        </p:txBody>
      </p:sp>
      <p:sp>
        <p:nvSpPr>
          <p:cNvPr id="377" name="Google Shape;377;p23"/>
          <p:cNvSpPr txBox="1"/>
          <p:nvPr/>
        </p:nvSpPr>
        <p:spPr>
          <a:xfrm>
            <a:off x="6492240" y="47091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Pinpoints exact commit that introduced a feature or bug.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Simplifies code reviews and pull request discussions.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Enables seamless rollbacks with `git revert` if an issue arises.</a:t>
            </a:r>
            <a:b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Provides transparent project management milestones.</a:t>
            </a:r>
            <a:endParaRPr/>
          </a:p>
        </p:txBody>
      </p:sp>
      <p:sp>
        <p:nvSpPr>
          <p:cNvPr id="378" name="Google Shape;378;p23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/ 30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4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4 · CI/CD</a:t>
            </a:r>
            <a:endParaRPr/>
          </a:p>
        </p:txBody>
      </p:sp>
      <p:sp>
        <p:nvSpPr>
          <p:cNvPr id="386" name="Google Shape;386;p24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Automated CI/CD Pipeline Architecture</a:t>
            </a:r>
            <a:endParaRPr/>
          </a:p>
        </p:txBody>
      </p:sp>
      <p:sp>
        <p:nvSpPr>
          <p:cNvPr id="387" name="Google Shape;387;p24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GitHub Actions automates the verification, scanning, packaging, and deployment.</a:t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4"/>
          <p:cNvSpPr/>
          <p:nvPr/>
        </p:nvSpPr>
        <p:spPr>
          <a:xfrm>
            <a:off x="548640" y="1234440"/>
            <a:ext cx="2029968" cy="2651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685800" y="1371600"/>
            <a:ext cx="1005840" cy="256032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</p:txBody>
      </p:sp>
      <p:sp>
        <p:nvSpPr>
          <p:cNvPr id="391" name="Google Shape;391;p24"/>
          <p:cNvSpPr txBox="1"/>
          <p:nvPr/>
        </p:nvSpPr>
        <p:spPr>
          <a:xfrm>
            <a:off x="548640" y="1737360"/>
            <a:ext cx="2029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/>
          </a:p>
        </p:txBody>
      </p:sp>
      <p:sp>
        <p:nvSpPr>
          <p:cNvPr id="392" name="Google Shape;392;p24"/>
          <p:cNvSpPr txBox="1"/>
          <p:nvPr/>
        </p:nvSpPr>
        <p:spPr>
          <a:xfrm>
            <a:off x="548640" y="224028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/>
          </a:p>
        </p:txBody>
      </p:sp>
      <p:sp>
        <p:nvSpPr>
          <p:cNvPr id="393" name="Google Shape;393;p24"/>
          <p:cNvSpPr txBox="1"/>
          <p:nvPr/>
        </p:nvSpPr>
        <p:spPr>
          <a:xfrm>
            <a:off x="548640" y="2560320"/>
            <a:ext cx="2029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pytest Unit Tests</a:t>
            </a:r>
            <a:endParaRPr/>
          </a:p>
        </p:txBody>
      </p:sp>
      <p:sp>
        <p:nvSpPr>
          <p:cNvPr id="394" name="Google Shape;394;p24"/>
          <p:cNvSpPr txBox="1"/>
          <p:nvPr/>
        </p:nvSpPr>
        <p:spPr>
          <a:xfrm>
            <a:off x="640080" y="2834640"/>
            <a:ext cx="18470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Ensures API and logic pass all assertions.</a:t>
            </a:r>
            <a:endParaRPr/>
          </a:p>
        </p:txBody>
      </p:sp>
      <p:sp>
        <p:nvSpPr>
          <p:cNvPr id="395" name="Google Shape;395;p24"/>
          <p:cNvSpPr txBox="1"/>
          <p:nvPr/>
        </p:nvSpPr>
        <p:spPr>
          <a:xfrm>
            <a:off x="2578608" y="22860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/>
          </a:p>
        </p:txBody>
      </p:sp>
      <p:sp>
        <p:nvSpPr>
          <p:cNvPr id="396" name="Google Shape;396;p24"/>
          <p:cNvSpPr/>
          <p:nvPr/>
        </p:nvSpPr>
        <p:spPr>
          <a:xfrm>
            <a:off x="2807208" y="1234440"/>
            <a:ext cx="2029968" cy="2651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2944368" y="1371600"/>
            <a:ext cx="1005840" cy="256032"/>
          </a:xfrm>
          <a:prstGeom prst="roundRect">
            <a:avLst>
              <a:gd fmla="val 16667" name="adj"/>
            </a:avLst>
          </a:prstGeom>
          <a:solidFill>
            <a:srgbClr val="EF4444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</p:txBody>
      </p:sp>
      <p:sp>
        <p:nvSpPr>
          <p:cNvPr id="398" name="Google Shape;398;p24"/>
          <p:cNvSpPr txBox="1"/>
          <p:nvPr/>
        </p:nvSpPr>
        <p:spPr>
          <a:xfrm>
            <a:off x="2807208" y="1737360"/>
            <a:ext cx="2029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/>
          </a:p>
        </p:txBody>
      </p:sp>
      <p:sp>
        <p:nvSpPr>
          <p:cNvPr id="399" name="Google Shape;399;p24"/>
          <p:cNvSpPr txBox="1"/>
          <p:nvPr/>
        </p:nvSpPr>
        <p:spPr>
          <a:xfrm>
            <a:off x="2807208" y="224028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400" name="Google Shape;400;p24"/>
          <p:cNvSpPr txBox="1"/>
          <p:nvPr/>
        </p:nvSpPr>
        <p:spPr>
          <a:xfrm>
            <a:off x="2807208" y="2560320"/>
            <a:ext cx="2029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Trivy Scan</a:t>
            </a:r>
            <a:endParaRPr/>
          </a:p>
        </p:txBody>
      </p:sp>
      <p:sp>
        <p:nvSpPr>
          <p:cNvPr id="401" name="Google Shape;401;p24"/>
          <p:cNvSpPr txBox="1"/>
          <p:nvPr/>
        </p:nvSpPr>
        <p:spPr>
          <a:xfrm>
            <a:off x="2898648" y="2834640"/>
            <a:ext cx="18470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Scans image dependencies for CVEs.</a:t>
            </a:r>
            <a:endParaRPr/>
          </a:p>
        </p:txBody>
      </p:sp>
      <p:sp>
        <p:nvSpPr>
          <p:cNvPr id="402" name="Google Shape;402;p24"/>
          <p:cNvSpPr txBox="1"/>
          <p:nvPr/>
        </p:nvSpPr>
        <p:spPr>
          <a:xfrm>
            <a:off x="4837176" y="22860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/>
          </a:p>
        </p:txBody>
      </p:sp>
      <p:sp>
        <p:nvSpPr>
          <p:cNvPr id="403" name="Google Shape;403;p24"/>
          <p:cNvSpPr/>
          <p:nvPr/>
        </p:nvSpPr>
        <p:spPr>
          <a:xfrm>
            <a:off x="5065776" y="1234440"/>
            <a:ext cx="2029968" cy="2651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0091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5202936" y="1371600"/>
            <a:ext cx="1005840" cy="256032"/>
          </a:xfrm>
          <a:prstGeom prst="roundRect">
            <a:avLst>
              <a:gd fmla="val 16667" name="adj"/>
            </a:avLst>
          </a:prstGeom>
          <a:solidFill>
            <a:srgbClr val="0091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</p:txBody>
      </p:sp>
      <p:sp>
        <p:nvSpPr>
          <p:cNvPr id="405" name="Google Shape;405;p24"/>
          <p:cNvSpPr txBox="1"/>
          <p:nvPr/>
        </p:nvSpPr>
        <p:spPr>
          <a:xfrm>
            <a:off x="5065776" y="1737360"/>
            <a:ext cx="2029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/>
          </a:p>
        </p:txBody>
      </p:sp>
      <p:sp>
        <p:nvSpPr>
          <p:cNvPr id="406" name="Google Shape;406;p24"/>
          <p:cNvSpPr txBox="1"/>
          <p:nvPr/>
        </p:nvSpPr>
        <p:spPr>
          <a:xfrm>
            <a:off x="5065776" y="224028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91FF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/>
          </a:p>
        </p:txBody>
      </p:sp>
      <p:sp>
        <p:nvSpPr>
          <p:cNvPr id="407" name="Google Shape;407;p24"/>
          <p:cNvSpPr txBox="1"/>
          <p:nvPr/>
        </p:nvSpPr>
        <p:spPr>
          <a:xfrm>
            <a:off x="5065776" y="2560320"/>
            <a:ext cx="2029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Docker Build</a:t>
            </a:r>
            <a:endParaRPr/>
          </a:p>
        </p:txBody>
      </p:sp>
      <p:sp>
        <p:nvSpPr>
          <p:cNvPr id="408" name="Google Shape;408;p24"/>
          <p:cNvSpPr txBox="1"/>
          <p:nvPr/>
        </p:nvSpPr>
        <p:spPr>
          <a:xfrm>
            <a:off x="5157216" y="2834640"/>
            <a:ext cx="18470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Compiles multi-stage production images.</a:t>
            </a:r>
            <a:endParaRPr/>
          </a:p>
        </p:txBody>
      </p:sp>
      <p:sp>
        <p:nvSpPr>
          <p:cNvPr id="409" name="Google Shape;409;p24"/>
          <p:cNvSpPr txBox="1"/>
          <p:nvPr/>
        </p:nvSpPr>
        <p:spPr>
          <a:xfrm>
            <a:off x="7095744" y="22860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/>
          </a:p>
        </p:txBody>
      </p:sp>
      <p:sp>
        <p:nvSpPr>
          <p:cNvPr id="410" name="Google Shape;410;p24"/>
          <p:cNvSpPr/>
          <p:nvPr/>
        </p:nvSpPr>
        <p:spPr>
          <a:xfrm>
            <a:off x="7324344" y="1234440"/>
            <a:ext cx="2029968" cy="2651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7461504" y="1371600"/>
            <a:ext cx="1005840" cy="256032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PHASE 4</a:t>
            </a:r>
            <a:endParaRPr/>
          </a:p>
        </p:txBody>
      </p:sp>
      <p:sp>
        <p:nvSpPr>
          <p:cNvPr id="412" name="Google Shape;412;p24"/>
          <p:cNvSpPr txBox="1"/>
          <p:nvPr/>
        </p:nvSpPr>
        <p:spPr>
          <a:xfrm>
            <a:off x="7324344" y="1737360"/>
            <a:ext cx="2029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📤</a:t>
            </a:r>
            <a:endParaRPr/>
          </a:p>
        </p:txBody>
      </p:sp>
      <p:sp>
        <p:nvSpPr>
          <p:cNvPr id="413" name="Google Shape;413;p24"/>
          <p:cNvSpPr txBox="1"/>
          <p:nvPr/>
        </p:nvSpPr>
        <p:spPr>
          <a:xfrm>
            <a:off x="7324344" y="224028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PUSH</a:t>
            </a:r>
            <a:endParaRPr/>
          </a:p>
        </p:txBody>
      </p:sp>
      <p:sp>
        <p:nvSpPr>
          <p:cNvPr id="414" name="Google Shape;414;p24"/>
          <p:cNvSpPr txBox="1"/>
          <p:nvPr/>
        </p:nvSpPr>
        <p:spPr>
          <a:xfrm>
            <a:off x="7324344" y="2560320"/>
            <a:ext cx="2029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Registry Upload</a:t>
            </a:r>
            <a:endParaRPr/>
          </a:p>
        </p:txBody>
      </p:sp>
      <p:sp>
        <p:nvSpPr>
          <p:cNvPr id="415" name="Google Shape;415;p24"/>
          <p:cNvSpPr txBox="1"/>
          <p:nvPr/>
        </p:nvSpPr>
        <p:spPr>
          <a:xfrm>
            <a:off x="7415783" y="2834640"/>
            <a:ext cx="18470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Publishes tagged images to GHCR.</a:t>
            </a:r>
            <a:endParaRPr/>
          </a:p>
        </p:txBody>
      </p:sp>
      <p:sp>
        <p:nvSpPr>
          <p:cNvPr id="416" name="Google Shape;416;p24"/>
          <p:cNvSpPr txBox="1"/>
          <p:nvPr/>
        </p:nvSpPr>
        <p:spPr>
          <a:xfrm>
            <a:off x="9354312" y="228600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F2D42"/>
                </a:solidFill>
                <a:latin typeface="Calibri"/>
                <a:ea typeface="Calibri"/>
                <a:cs typeface="Calibri"/>
                <a:sym typeface="Calibri"/>
              </a:rPr>
              <a:t>➔</a:t>
            </a:r>
            <a:endParaRPr/>
          </a:p>
        </p:txBody>
      </p:sp>
      <p:sp>
        <p:nvSpPr>
          <p:cNvPr id="417" name="Google Shape;417;p24"/>
          <p:cNvSpPr/>
          <p:nvPr/>
        </p:nvSpPr>
        <p:spPr>
          <a:xfrm>
            <a:off x="9582912" y="1234440"/>
            <a:ext cx="2029968" cy="265176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9720072" y="1371600"/>
            <a:ext cx="1005840" cy="256032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PHASE 5</a:t>
            </a:r>
            <a:endParaRPr/>
          </a:p>
        </p:txBody>
      </p:sp>
      <p:sp>
        <p:nvSpPr>
          <p:cNvPr id="419" name="Google Shape;419;p24"/>
          <p:cNvSpPr txBox="1"/>
          <p:nvPr/>
        </p:nvSpPr>
        <p:spPr>
          <a:xfrm>
            <a:off x="9582912" y="1737360"/>
            <a:ext cx="202996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</a:t>
            </a:r>
            <a:endParaRPr/>
          </a:p>
        </p:txBody>
      </p:sp>
      <p:sp>
        <p:nvSpPr>
          <p:cNvPr id="420" name="Google Shape;420;p24"/>
          <p:cNvSpPr txBox="1"/>
          <p:nvPr/>
        </p:nvSpPr>
        <p:spPr>
          <a:xfrm>
            <a:off x="9582912" y="2240280"/>
            <a:ext cx="2029968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DEPLOY</a:t>
            </a:r>
            <a:endParaRPr/>
          </a:p>
        </p:txBody>
      </p:sp>
      <p:sp>
        <p:nvSpPr>
          <p:cNvPr id="421" name="Google Shape;421;p24"/>
          <p:cNvSpPr txBox="1"/>
          <p:nvPr/>
        </p:nvSpPr>
        <p:spPr>
          <a:xfrm>
            <a:off x="9582912" y="2560320"/>
            <a:ext cx="20299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Kubernetes Rollout</a:t>
            </a:r>
            <a:endParaRPr/>
          </a:p>
        </p:txBody>
      </p:sp>
      <p:sp>
        <p:nvSpPr>
          <p:cNvPr id="422" name="Google Shape;422;p24"/>
          <p:cNvSpPr txBox="1"/>
          <p:nvPr/>
        </p:nvSpPr>
        <p:spPr>
          <a:xfrm>
            <a:off x="9674352" y="2834640"/>
            <a:ext cx="1847088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Updates AWS EKS with zero downtime.</a:t>
            </a:r>
            <a:endParaRPr/>
          </a:p>
        </p:txBody>
      </p:sp>
      <p:sp>
        <p:nvSpPr>
          <p:cNvPr id="423" name="Google Shape;423;p24"/>
          <p:cNvSpPr/>
          <p:nvPr/>
        </p:nvSpPr>
        <p:spPr>
          <a:xfrm>
            <a:off x="548640" y="4069080"/>
            <a:ext cx="11091672" cy="224028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4"/>
          <p:cNvSpPr txBox="1"/>
          <p:nvPr/>
        </p:nvSpPr>
        <p:spPr>
          <a:xfrm>
            <a:off x="822960" y="4297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WHY CI/CD IS ESSENTIAL FOR NON-TECH STAKEHOLDERS</a:t>
            </a:r>
            <a:endParaRPr/>
          </a:p>
        </p:txBody>
      </p:sp>
      <p:sp>
        <p:nvSpPr>
          <p:cNvPr id="425" name="Google Shape;425;p24"/>
          <p:cNvSpPr txBox="1"/>
          <p:nvPr/>
        </p:nvSpPr>
        <p:spPr>
          <a:xfrm>
            <a:off x="822960" y="4709160"/>
            <a:ext cx="1051560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No Manual Human Errors: Engineers don't drag-and-drop files onto servers via FTP or run dangerous manual scripts.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Immediate Feedback: If code breaks tests or has security bugs, developers get notified in under 3 minutes.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Continuous Delivery: Features reach customers immediately instead of waiting for stressful quarterly release weekends.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•  Safety Net: Unapproved or failing builds are physically blocked from reaching the live production servers.</a:t>
            </a:r>
            <a:endParaRPr/>
          </a:p>
        </p:txBody>
      </p:sp>
      <p:sp>
        <p:nvSpPr>
          <p:cNvPr id="426" name="Google Shape;426;p24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13 / 30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5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4 · CI/CD</a:t>
            </a:r>
            <a:endParaRPr/>
          </a:p>
        </p:txBody>
      </p:sp>
      <p:sp>
        <p:nvSpPr>
          <p:cNvPr id="434" name="Google Shape;434;p25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 — Successful Pipeline Execution</a:t>
            </a:r>
            <a:endParaRPr/>
          </a:p>
        </p:txBody>
      </p:sp>
      <p:sp>
        <p:nvSpPr>
          <p:cNvPr id="435" name="Google Shape;435;p25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Full green run: all tests, security audits, container builds, and deployment completed.</a:t>
            </a:r>
            <a:endParaRPr/>
          </a:p>
        </p:txBody>
      </p:sp>
      <p:sp>
        <p:nvSpPr>
          <p:cNvPr id="436" name="Google Shape;436;p25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548640" y="1234440"/>
            <a:ext cx="7132200" cy="507480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5"/>
          <p:cNvSpPr txBox="1"/>
          <p:nvPr/>
        </p:nvSpPr>
        <p:spPr>
          <a:xfrm>
            <a:off x="731520" y="1723547"/>
            <a:ext cx="676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Actions: All Jobs Passed</a:t>
            </a:r>
            <a:endParaRPr/>
          </a:p>
        </p:txBody>
      </p:sp>
      <p:sp>
        <p:nvSpPr>
          <p:cNvPr id="439" name="Google Shape;439;p25"/>
          <p:cNvSpPr txBox="1"/>
          <p:nvPr/>
        </p:nvSpPr>
        <p:spPr>
          <a:xfrm>
            <a:off x="4448459" y="1712652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Green Pipeline Status</a:t>
            </a:r>
            <a:endParaRPr/>
          </a:p>
        </p:txBody>
      </p:sp>
      <p:pic>
        <p:nvPicPr>
          <p:cNvPr descr="passed.png" id="440" name="Google Shape;4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068876"/>
            <a:ext cx="6858000" cy="3881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4 · CI/CD</a:t>
            </a:r>
            <a:endParaRPr/>
          </a:p>
        </p:txBody>
      </p:sp>
      <p:sp>
        <p:nvSpPr>
          <p:cNvPr id="448" name="Google Shape;448;p26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Safety Net — Catching Failures in CI</a:t>
            </a:r>
            <a:endParaRPr/>
          </a:p>
        </p:txBody>
      </p:sp>
      <p:sp>
        <p:nvSpPr>
          <p:cNvPr id="449" name="Google Shape;449;p26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Demonstrating how CI/CD stops broken code before it can ever impact end users.</a:t>
            </a:r>
            <a:endParaRPr/>
          </a:p>
        </p:txBody>
      </p:sp>
      <p:sp>
        <p:nvSpPr>
          <p:cNvPr id="450" name="Google Shape;450;p26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6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6"/>
          <p:cNvSpPr txBox="1"/>
          <p:nvPr/>
        </p:nvSpPr>
        <p:spPr>
          <a:xfrm>
            <a:off x="731520" y="1635998"/>
            <a:ext cx="676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Actions: Build Caught &amp; Aborted</a:t>
            </a:r>
            <a:endParaRPr/>
          </a:p>
        </p:txBody>
      </p:sp>
      <p:sp>
        <p:nvSpPr>
          <p:cNvPr id="453" name="Google Shape;453;p26"/>
          <p:cNvSpPr txBox="1"/>
          <p:nvPr/>
        </p:nvSpPr>
        <p:spPr>
          <a:xfrm>
            <a:off x="4754880" y="1668877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Failed Pipeline Gate</a:t>
            </a:r>
            <a:endParaRPr/>
          </a:p>
        </p:txBody>
      </p:sp>
      <p:pic>
        <p:nvPicPr>
          <p:cNvPr descr="failed.png" id="454" name="Google Shape;4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068876"/>
            <a:ext cx="6858000" cy="3881534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26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6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FAIL-FAST PHILOSOPHY</a:t>
            </a:r>
            <a:endParaRPr/>
          </a:p>
        </p:txBody>
      </p:sp>
      <p:sp>
        <p:nvSpPr>
          <p:cNvPr id="457" name="Google Shape;457;p26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Why Failing Here is Good</a:t>
            </a:r>
            <a:endParaRPr/>
          </a:p>
        </p:txBody>
      </p:sp>
      <p:sp>
        <p:nvSpPr>
          <p:cNvPr id="458" name="Google Shape;458;p26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 red build in CI prevents customer outages, loss of trust, and emergency midnight rollbacks.</a:t>
            </a:r>
            <a:endParaRPr/>
          </a:p>
        </p:txBody>
      </p:sp>
      <p:sp>
        <p:nvSpPr>
          <p:cNvPr id="459" name="Google Shape;459;p26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Deployment Gate Blocked</a:t>
            </a:r>
            <a:endParaRPr/>
          </a:p>
        </p:txBody>
      </p:sp>
      <p:sp>
        <p:nvSpPr>
          <p:cNvPr id="460" name="Google Shape;460;p26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Subsequent stages (Docker build, push, Kubernetes deploy) were automatically canceled.</a:t>
            </a:r>
            <a:endParaRPr/>
          </a:p>
        </p:txBody>
      </p:sp>
      <p:sp>
        <p:nvSpPr>
          <p:cNvPr id="461" name="Google Shape;461;p26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Instant Developer Alert</a:t>
            </a:r>
            <a:endParaRPr/>
          </a:p>
        </p:txBody>
      </p:sp>
      <p:sp>
        <p:nvSpPr>
          <p:cNvPr id="462" name="Google Shape;462;p26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Detailed logs highlight the exact line and assertion failure so it can be fixed immediately.</a:t>
            </a:r>
            <a:endParaRPr/>
          </a:p>
        </p:txBody>
      </p:sp>
      <p:sp>
        <p:nvSpPr>
          <p:cNvPr id="463" name="Google Shape;463;p26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❌  Zero Impact on Production</a:t>
            </a:r>
            <a:endParaRPr/>
          </a:p>
        </p:txBody>
      </p:sp>
      <p:sp>
        <p:nvSpPr>
          <p:cNvPr id="464" name="Google Shape;464;p26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users never notice because the cluster continues running the previous healthy version.</a:t>
            </a:r>
            <a:endParaRPr/>
          </a:p>
        </p:txBody>
      </p:sp>
      <p:sp>
        <p:nvSpPr>
          <p:cNvPr id="465" name="Google Shape;465;p26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15 / 30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7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7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4 · CI/CD</a:t>
            </a:r>
            <a:endParaRPr/>
          </a:p>
        </p:txBody>
      </p:sp>
      <p:sp>
        <p:nvSpPr>
          <p:cNvPr id="473" name="Google Shape;473;p27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 — Git Push to Deployment Pipeline</a:t>
            </a:r>
            <a:endParaRPr/>
          </a:p>
        </p:txBody>
      </p:sp>
      <p:sp>
        <p:nvSpPr>
          <p:cNvPr id="474" name="Google Shape;474;p27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Video demonstration capturing the entire push-to-deploy automated cycle.</a:t>
            </a:r>
            <a:endParaRPr/>
          </a:p>
        </p:txBody>
      </p:sp>
      <p:sp>
        <p:nvSpPr>
          <p:cNvPr id="475" name="Google Shape;475;p27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7"/>
          <p:cNvSpPr/>
          <p:nvPr/>
        </p:nvSpPr>
        <p:spPr>
          <a:xfrm>
            <a:off x="548655" y="1234450"/>
            <a:ext cx="10972800" cy="5074800"/>
          </a:xfrm>
          <a:prstGeom prst="roundRect">
            <a:avLst>
              <a:gd fmla="val 16667" name="adj"/>
            </a:avLst>
          </a:prstGeom>
          <a:solidFill>
            <a:srgbClr val="061610"/>
          </a:solidFill>
          <a:ln cap="flat" cmpd="sng" w="254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7"/>
          <p:cNvSpPr txBox="1"/>
          <p:nvPr/>
        </p:nvSpPr>
        <p:spPr>
          <a:xfrm>
            <a:off x="3383280" y="228600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/>
          </a:p>
        </p:txBody>
      </p:sp>
      <p:sp>
        <p:nvSpPr>
          <p:cNvPr id="478" name="Google Shape;478;p27"/>
          <p:cNvSpPr txBox="1"/>
          <p:nvPr/>
        </p:nvSpPr>
        <p:spPr>
          <a:xfrm>
            <a:off x="2577419" y="5427911"/>
            <a:ext cx="640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RECORDED DEMO VIDEO EMBED</a:t>
            </a:r>
            <a:endParaRPr/>
          </a:p>
        </p:txBody>
      </p:sp>
      <p:sp>
        <p:nvSpPr>
          <p:cNvPr id="479" name="Google Shape;479;p27"/>
          <p:cNvSpPr txBox="1"/>
          <p:nvPr/>
        </p:nvSpPr>
        <p:spPr>
          <a:xfrm>
            <a:off x="2590800" y="5784203"/>
            <a:ext cx="64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Demonstrates: Code change → Git commit → Push → GitHub Actions runs → AWS EKS deployment</a:t>
            </a:r>
            <a:endParaRPr/>
          </a:p>
        </p:txBody>
      </p:sp>
      <p:sp>
        <p:nvSpPr>
          <p:cNvPr id="480" name="Google Shape;480;p27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16 / 30</a:t>
            </a:r>
            <a:endParaRPr/>
          </a:p>
        </p:txBody>
      </p:sp>
      <p:pic>
        <p:nvPicPr>
          <p:cNvPr id="481" name="Google Shape;481;p27" title="github_actions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637" y="1377275"/>
            <a:ext cx="5283133" cy="396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2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8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5 · TERRAFORM</a:t>
            </a:r>
            <a:endParaRPr/>
          </a:p>
        </p:txBody>
      </p:sp>
      <p:sp>
        <p:nvSpPr>
          <p:cNvPr id="489" name="Google Shape;489;p28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Infrastructure as Code (IaC) with Terraform</a:t>
            </a:r>
            <a:endParaRPr/>
          </a:p>
        </p:txBody>
      </p:sp>
      <p:sp>
        <p:nvSpPr>
          <p:cNvPr id="490" name="Google Shape;490;p28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Defining entire cloud infrastructure through declarative, version-controlled code.</a:t>
            </a:r>
            <a:endParaRPr/>
          </a:p>
        </p:txBody>
      </p:sp>
      <p:sp>
        <p:nvSpPr>
          <p:cNvPr id="491" name="Google Shape;491;p28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8"/>
          <p:cNvSpPr/>
          <p:nvPr/>
        </p:nvSpPr>
        <p:spPr>
          <a:xfrm>
            <a:off x="548640" y="1234440"/>
            <a:ext cx="11091672" cy="1371600"/>
          </a:xfrm>
          <a:prstGeom prst="roundRect">
            <a:avLst>
              <a:gd fmla="val 16667" name="adj"/>
            </a:avLst>
          </a:prstGeom>
          <a:solidFill>
            <a:srgbClr val="221606"/>
          </a:solidFill>
          <a:ln cap="flat" cmpd="sng" w="1905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8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🏗️   The Architectural Blueprint Analogy</a:t>
            </a:r>
            <a:endParaRPr/>
          </a:p>
        </p:txBody>
      </p:sp>
      <p:sp>
        <p:nvSpPr>
          <p:cNvPr id="494" name="Google Shape;494;p28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Instead of clicking buttons in the AWS Console (prone to mistakes and impossible to replicate), Terraform writes a blueprint in code.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Hand this blueprint to AWS and it builds the exact same secure network, servers, and Kubernetes cluster every single time.</a:t>
            </a:r>
            <a:endParaRPr/>
          </a:p>
        </p:txBody>
      </p:sp>
      <p:sp>
        <p:nvSpPr>
          <p:cNvPr id="495" name="Google Shape;495;p28"/>
          <p:cNvSpPr/>
          <p:nvPr/>
        </p:nvSpPr>
        <p:spPr>
          <a:xfrm>
            <a:off x="548640" y="28346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8"/>
          <p:cNvSpPr txBox="1"/>
          <p:nvPr/>
        </p:nvSpPr>
        <p:spPr>
          <a:xfrm>
            <a:off x="822959" y="30632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</a:t>
            </a:r>
            <a:endParaRPr/>
          </a:p>
        </p:txBody>
      </p:sp>
      <p:sp>
        <p:nvSpPr>
          <p:cNvPr id="497" name="Google Shape;497;p28"/>
          <p:cNvSpPr txBox="1"/>
          <p:nvPr/>
        </p:nvSpPr>
        <p:spPr>
          <a:xfrm>
            <a:off x="1463040" y="30358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AWS EKS Cluster</a:t>
            </a:r>
            <a:endParaRPr/>
          </a:p>
        </p:txBody>
      </p:sp>
      <p:sp>
        <p:nvSpPr>
          <p:cNvPr id="498" name="Google Shape;498;p28"/>
          <p:cNvSpPr txBox="1"/>
          <p:nvPr/>
        </p:nvSpPr>
        <p:spPr>
          <a:xfrm>
            <a:off x="1463040" y="34290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Managed Kubernetes control plane across availability zones for high resilience.</a:t>
            </a:r>
            <a:endParaRPr/>
          </a:p>
        </p:txBody>
      </p:sp>
      <p:sp>
        <p:nvSpPr>
          <p:cNvPr id="499" name="Google Shape;499;p28"/>
          <p:cNvSpPr/>
          <p:nvPr/>
        </p:nvSpPr>
        <p:spPr>
          <a:xfrm>
            <a:off x="6217920" y="28346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8"/>
          <p:cNvSpPr txBox="1"/>
          <p:nvPr/>
        </p:nvSpPr>
        <p:spPr>
          <a:xfrm>
            <a:off x="6492240" y="30632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/>
          </a:p>
        </p:txBody>
      </p:sp>
      <p:sp>
        <p:nvSpPr>
          <p:cNvPr id="501" name="Google Shape;501;p28"/>
          <p:cNvSpPr txBox="1"/>
          <p:nvPr/>
        </p:nvSpPr>
        <p:spPr>
          <a:xfrm>
            <a:off x="7132320" y="30358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Custom VPC Network</a:t>
            </a:r>
            <a:endParaRPr/>
          </a:p>
        </p:txBody>
      </p:sp>
      <p:sp>
        <p:nvSpPr>
          <p:cNvPr id="502" name="Google Shape;502;p28"/>
          <p:cNvSpPr txBox="1"/>
          <p:nvPr/>
        </p:nvSpPr>
        <p:spPr>
          <a:xfrm>
            <a:off x="7132320" y="34290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Isolated virtual cloud network with public and private subnets, NAT, and IGW.</a:t>
            </a:r>
            <a:endParaRPr/>
          </a:p>
        </p:txBody>
      </p:sp>
      <p:sp>
        <p:nvSpPr>
          <p:cNvPr id="503" name="Google Shape;503;p28"/>
          <p:cNvSpPr/>
          <p:nvPr/>
        </p:nvSpPr>
        <p:spPr>
          <a:xfrm>
            <a:off x="548640" y="46634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822959" y="48920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/>
          </a:p>
        </p:txBody>
      </p:sp>
      <p:sp>
        <p:nvSpPr>
          <p:cNvPr id="505" name="Google Shape;505;p28"/>
          <p:cNvSpPr txBox="1"/>
          <p:nvPr/>
        </p:nvSpPr>
        <p:spPr>
          <a:xfrm>
            <a:off x="1463040" y="4864607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IAM Roles &amp; Policies</a:t>
            </a:r>
            <a:endParaRPr/>
          </a:p>
        </p:txBody>
      </p:sp>
      <p:sp>
        <p:nvSpPr>
          <p:cNvPr id="506" name="Google Shape;506;p28"/>
          <p:cNvSpPr txBox="1"/>
          <p:nvPr/>
        </p:nvSpPr>
        <p:spPr>
          <a:xfrm>
            <a:off x="1463040" y="52578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Least-privilege security model ensuring only authorized services talk to AWS.</a:t>
            </a:r>
            <a:endParaRPr/>
          </a:p>
        </p:txBody>
      </p:sp>
      <p:sp>
        <p:nvSpPr>
          <p:cNvPr id="507" name="Google Shape;507;p28"/>
          <p:cNvSpPr/>
          <p:nvPr/>
        </p:nvSpPr>
        <p:spPr>
          <a:xfrm>
            <a:off x="6217920" y="46634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8"/>
          <p:cNvSpPr txBox="1"/>
          <p:nvPr/>
        </p:nvSpPr>
        <p:spPr>
          <a:xfrm>
            <a:off x="6492240" y="48920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/>
          </a:p>
        </p:txBody>
      </p:sp>
      <p:sp>
        <p:nvSpPr>
          <p:cNvPr id="509" name="Google Shape;509;p28"/>
          <p:cNvSpPr txBox="1"/>
          <p:nvPr/>
        </p:nvSpPr>
        <p:spPr>
          <a:xfrm>
            <a:off x="7132320" y="4864607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Managed Node Groups</a:t>
            </a:r>
            <a:endParaRPr/>
          </a:p>
        </p:txBody>
      </p:sp>
      <p:sp>
        <p:nvSpPr>
          <p:cNvPr id="510" name="Google Shape;510;p28"/>
          <p:cNvSpPr txBox="1"/>
          <p:nvPr/>
        </p:nvSpPr>
        <p:spPr>
          <a:xfrm>
            <a:off x="7132320" y="52578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Auto-scaling EC2 instances provisioned to run application container pods.</a:t>
            </a:r>
            <a:endParaRPr/>
          </a:p>
        </p:txBody>
      </p:sp>
      <p:sp>
        <p:nvSpPr>
          <p:cNvPr id="511" name="Google Shape;511;p28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17 / 30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9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29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5 · TERRAFORM</a:t>
            </a:r>
            <a:endParaRPr/>
          </a:p>
        </p:txBody>
      </p:sp>
      <p:sp>
        <p:nvSpPr>
          <p:cNvPr id="519" name="Google Shape;519;p29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Init &amp; Plan — Safe Dry-Runs</a:t>
            </a:r>
            <a:endParaRPr/>
          </a:p>
        </p:txBody>
      </p:sp>
      <p:sp>
        <p:nvSpPr>
          <p:cNvPr id="520" name="Google Shape;520;p29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Terraform calculates exactly what resources will be created before touching the cloud.</a:t>
            </a:r>
            <a:endParaRPr/>
          </a:p>
        </p:txBody>
      </p:sp>
      <p:sp>
        <p:nvSpPr>
          <p:cNvPr id="521" name="Google Shape;521;p29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9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9"/>
          <p:cNvSpPr txBox="1"/>
          <p:nvPr/>
        </p:nvSpPr>
        <p:spPr>
          <a:xfrm>
            <a:off x="848910" y="1539817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init  •  Provider Initialization</a:t>
            </a:r>
            <a:endParaRPr/>
          </a:p>
        </p:txBody>
      </p:sp>
      <p:pic>
        <p:nvPicPr>
          <p:cNvPr descr="init_plan.png" id="524" name="Google Shape;5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1861660"/>
            <a:ext cx="5120640" cy="4295967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29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9"/>
          <p:cNvSpPr txBox="1"/>
          <p:nvPr/>
        </p:nvSpPr>
        <p:spPr>
          <a:xfrm>
            <a:off x="6479060" y="1481122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plan  •  Execution Preview</a:t>
            </a:r>
            <a:endParaRPr/>
          </a:p>
        </p:txBody>
      </p:sp>
      <p:pic>
        <p:nvPicPr>
          <p:cNvPr descr="plan.png" id="527" name="Google Shape;52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1845413"/>
            <a:ext cx="5120640" cy="4328461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9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18 / 30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0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5 · TERRAFORM</a:t>
            </a:r>
            <a:endParaRPr/>
          </a:p>
        </p:txBody>
      </p:sp>
      <p:sp>
        <p:nvSpPr>
          <p:cNvPr id="536" name="Google Shape;536;p30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Apply — Provisioning Infrastructure</a:t>
            </a:r>
            <a:endParaRPr/>
          </a:p>
        </p:txBody>
      </p:sp>
      <p:sp>
        <p:nvSpPr>
          <p:cNvPr id="537" name="Google Shape;537;p30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Executing the blueprint: VPC, subnets, route tables, IAM roles, and EKS cluster created.</a:t>
            </a:r>
            <a:endParaRPr/>
          </a:p>
        </p:txBody>
      </p:sp>
      <p:sp>
        <p:nvSpPr>
          <p:cNvPr id="538" name="Google Shape;538;p30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0"/>
          <p:cNvSpPr txBox="1"/>
          <p:nvPr/>
        </p:nvSpPr>
        <p:spPr>
          <a:xfrm>
            <a:off x="1144270" y="1391793"/>
            <a:ext cx="676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apply  •  Resources Created</a:t>
            </a:r>
            <a:endParaRPr/>
          </a:p>
        </p:txBody>
      </p:sp>
      <p:pic>
        <p:nvPicPr>
          <p:cNvPr descr="apply.png" id="541" name="Google Shape;54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5789" y="1801368"/>
            <a:ext cx="5318021" cy="4416551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30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0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PROVISIONING OUTCOME</a:t>
            </a:r>
            <a:endParaRPr/>
          </a:p>
        </p:txBody>
      </p:sp>
      <p:sp>
        <p:nvSpPr>
          <p:cNvPr id="544" name="Google Shape;544;p30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Zero Manual Setup</a:t>
            </a:r>
            <a:endParaRPr/>
          </a:p>
        </p:txBody>
      </p:sp>
      <p:sp>
        <p:nvSpPr>
          <p:cNvPr id="545" name="Google Shape;545;p30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VPC, Subnets, Internet Gateways, NAT Gateways, and EKS provisioned purely from code.</a:t>
            </a:r>
            <a:endParaRPr/>
          </a:p>
        </p:txBody>
      </p:sp>
      <p:sp>
        <p:nvSpPr>
          <p:cNvPr id="546" name="Google Shape;546;p30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Idempotent Execution</a:t>
            </a:r>
            <a:endParaRPr/>
          </a:p>
        </p:txBody>
      </p:sp>
      <p:sp>
        <p:nvSpPr>
          <p:cNvPr id="547" name="Google Shape;547;p30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Running `terraform apply` again does nothing if nothing has changed — zero drift.</a:t>
            </a:r>
            <a:endParaRPr/>
          </a:p>
        </p:txBody>
      </p:sp>
      <p:sp>
        <p:nvSpPr>
          <p:cNvPr id="548" name="Google Shape;548;p30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State Management</a:t>
            </a:r>
            <a:endParaRPr/>
          </a:p>
        </p:txBody>
      </p:sp>
      <p:sp>
        <p:nvSpPr>
          <p:cNvPr id="549" name="Google Shape;549;p30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Terraform tracks the real-world infrastructure in a secure state file.</a:t>
            </a:r>
            <a:endParaRPr/>
          </a:p>
        </p:txBody>
      </p:sp>
      <p:sp>
        <p:nvSpPr>
          <p:cNvPr id="550" name="Google Shape;550;p30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  Enterprise Ready</a:t>
            </a:r>
            <a:endParaRPr/>
          </a:p>
        </p:txBody>
      </p:sp>
      <p:sp>
        <p:nvSpPr>
          <p:cNvPr id="551" name="Google Shape;551;p30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The entire infrastructure can be replicated in another AWS region in 15 minutes.</a:t>
            </a:r>
            <a:endParaRPr/>
          </a:p>
        </p:txBody>
      </p:sp>
      <p:sp>
        <p:nvSpPr>
          <p:cNvPr id="552" name="Google Shape;552;p30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19 / 30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1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5 · TERRAFORM</a:t>
            </a:r>
            <a:endParaRPr/>
          </a:p>
        </p:txBody>
      </p:sp>
      <p:sp>
        <p:nvSpPr>
          <p:cNvPr id="560" name="Google Shape;560;p31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Cloud Console — Verification Evidence</a:t>
            </a:r>
            <a:endParaRPr/>
          </a:p>
        </p:txBody>
      </p:sp>
      <p:sp>
        <p:nvSpPr>
          <p:cNvPr id="561" name="Google Shape;561;p31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Visual confirmation in the AWS Console that Terraform created all resources successfully.</a:t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1"/>
          <p:cNvSpPr txBox="1"/>
          <p:nvPr/>
        </p:nvSpPr>
        <p:spPr>
          <a:xfrm>
            <a:off x="731520" y="1804543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EKS Console: taskboard-eks Cluster</a:t>
            </a:r>
            <a:endParaRPr/>
          </a:p>
        </p:txBody>
      </p:sp>
      <p:pic>
        <p:nvPicPr>
          <p:cNvPr descr="eks.png" id="565" name="Google Shape;56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463290"/>
            <a:ext cx="5120640" cy="3092707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31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1"/>
          <p:cNvSpPr txBox="1"/>
          <p:nvPr/>
        </p:nvSpPr>
        <p:spPr>
          <a:xfrm>
            <a:off x="6400800" y="1823243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AWS VPC Console: Isolated Network</a:t>
            </a:r>
            <a:endParaRPr/>
          </a:p>
        </p:txBody>
      </p:sp>
      <p:pic>
        <p:nvPicPr>
          <p:cNvPr descr="vpc.png" id="568" name="Google Shape;56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2619755"/>
            <a:ext cx="5120640" cy="2779776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1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20 / 30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2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6 · KUBERNETES</a:t>
            </a:r>
            <a:endParaRPr/>
          </a:p>
        </p:txBody>
      </p:sp>
      <p:sp>
        <p:nvSpPr>
          <p:cNvPr id="577" name="Google Shape;577;p32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Orchestration — Kubernetes &amp; Helm</a:t>
            </a:r>
            <a:endParaRPr/>
          </a:p>
        </p:txBody>
      </p:sp>
      <p:sp>
        <p:nvSpPr>
          <p:cNvPr id="578" name="Google Shape;578;p32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Managing container lifecycles, self-healing, rolling updates, and traffic routing.</a:t>
            </a:r>
            <a:endParaRPr/>
          </a:p>
        </p:txBody>
      </p:sp>
      <p:sp>
        <p:nvSpPr>
          <p:cNvPr id="579" name="Google Shape;579;p32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32"/>
          <p:cNvSpPr/>
          <p:nvPr/>
        </p:nvSpPr>
        <p:spPr>
          <a:xfrm>
            <a:off x="548640" y="1234440"/>
            <a:ext cx="11091672" cy="1371600"/>
          </a:xfrm>
          <a:prstGeom prst="roundRect">
            <a:avLst>
              <a:gd fmla="val 16667" name="adj"/>
            </a:avLst>
          </a:prstGeom>
          <a:solidFill>
            <a:srgbClr val="150E28"/>
          </a:solidFill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3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✈️   The Air Traffic Controller Analogy</a:t>
            </a:r>
            <a:endParaRPr/>
          </a:p>
        </p:txBody>
      </p:sp>
      <p:sp>
        <p:nvSpPr>
          <p:cNvPr id="582" name="Google Shape;582;p32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Just as air traffic controllers guide hundreds of flights, manage runways, and respond instantly to delays —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Kubernetes constantly schedules containers onto healthy servers, restarts crashed apps, and scales up when traffic spikes.</a:t>
            </a:r>
            <a:endParaRPr/>
          </a:p>
        </p:txBody>
      </p:sp>
      <p:sp>
        <p:nvSpPr>
          <p:cNvPr id="583" name="Google Shape;583;p32"/>
          <p:cNvSpPr/>
          <p:nvPr/>
        </p:nvSpPr>
        <p:spPr>
          <a:xfrm>
            <a:off x="548640" y="28346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2"/>
          <p:cNvSpPr txBox="1"/>
          <p:nvPr/>
        </p:nvSpPr>
        <p:spPr>
          <a:xfrm>
            <a:off x="822959" y="30632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/>
          </a:p>
        </p:txBody>
      </p:sp>
      <p:sp>
        <p:nvSpPr>
          <p:cNvPr id="585" name="Google Shape;585;p32"/>
          <p:cNvSpPr txBox="1"/>
          <p:nvPr/>
        </p:nvSpPr>
        <p:spPr>
          <a:xfrm>
            <a:off x="1463040" y="30358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Self-Healing Workloads</a:t>
            </a:r>
            <a:endParaRPr/>
          </a:p>
        </p:txBody>
      </p:sp>
      <p:sp>
        <p:nvSpPr>
          <p:cNvPr id="586" name="Google Shape;586;p32"/>
          <p:cNvSpPr txBox="1"/>
          <p:nvPr/>
        </p:nvSpPr>
        <p:spPr>
          <a:xfrm>
            <a:off x="1463040" y="34290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a backend pod crashes or runs out of memory, Kubernetes restarts a new replica in seconds.</a:t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6217920" y="28346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 txBox="1"/>
          <p:nvPr/>
        </p:nvSpPr>
        <p:spPr>
          <a:xfrm>
            <a:off x="6492240" y="30632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⚖️</a:t>
            </a:r>
            <a:endParaRPr/>
          </a:p>
        </p:txBody>
      </p:sp>
      <p:sp>
        <p:nvSpPr>
          <p:cNvPr id="589" name="Google Shape;589;p32"/>
          <p:cNvSpPr txBox="1"/>
          <p:nvPr/>
        </p:nvSpPr>
        <p:spPr>
          <a:xfrm>
            <a:off x="7132320" y="3035808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Internal Load Balancing</a:t>
            </a:r>
            <a:endParaRPr/>
          </a:p>
        </p:txBody>
      </p:sp>
      <p:sp>
        <p:nvSpPr>
          <p:cNvPr id="590" name="Google Shape;590;p32"/>
          <p:cNvSpPr txBox="1"/>
          <p:nvPr/>
        </p:nvSpPr>
        <p:spPr>
          <a:xfrm>
            <a:off x="7132320" y="34290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ClusterIP and NodePort services distribute incoming traffic evenly across running pods.</a:t>
            </a:r>
            <a:endParaRPr/>
          </a:p>
        </p:txBody>
      </p:sp>
      <p:sp>
        <p:nvSpPr>
          <p:cNvPr id="591" name="Google Shape;591;p32"/>
          <p:cNvSpPr/>
          <p:nvPr/>
        </p:nvSpPr>
        <p:spPr>
          <a:xfrm>
            <a:off x="548640" y="46634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 txBox="1"/>
          <p:nvPr/>
        </p:nvSpPr>
        <p:spPr>
          <a:xfrm>
            <a:off x="822959" y="48920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📦</a:t>
            </a:r>
            <a:endParaRPr/>
          </a:p>
        </p:txBody>
      </p:sp>
      <p:sp>
        <p:nvSpPr>
          <p:cNvPr id="593" name="Google Shape;593;p32"/>
          <p:cNvSpPr txBox="1"/>
          <p:nvPr/>
        </p:nvSpPr>
        <p:spPr>
          <a:xfrm>
            <a:off x="1463040" y="4864607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Helm Package Manager</a:t>
            </a:r>
            <a:endParaRPr/>
          </a:p>
        </p:txBody>
      </p:sp>
      <p:sp>
        <p:nvSpPr>
          <p:cNvPr id="594" name="Google Shape;594;p32"/>
          <p:cNvSpPr txBox="1"/>
          <p:nvPr/>
        </p:nvSpPr>
        <p:spPr>
          <a:xfrm>
            <a:off x="1463040" y="52578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Helm acts as the 'App Store' for Kubernetes, templating manifests and managing releases cleanly.</a:t>
            </a:r>
            <a:endParaRPr/>
          </a:p>
        </p:txBody>
      </p:sp>
      <p:sp>
        <p:nvSpPr>
          <p:cNvPr id="595" name="Google Shape;595;p32"/>
          <p:cNvSpPr/>
          <p:nvPr/>
        </p:nvSpPr>
        <p:spPr>
          <a:xfrm>
            <a:off x="6217920" y="4663440"/>
            <a:ext cx="5394960" cy="1645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2"/>
          <p:cNvSpPr txBox="1"/>
          <p:nvPr/>
        </p:nvSpPr>
        <p:spPr>
          <a:xfrm>
            <a:off x="6492240" y="489204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/>
          </a:p>
        </p:txBody>
      </p:sp>
      <p:sp>
        <p:nvSpPr>
          <p:cNvPr id="597" name="Google Shape;597;p32"/>
          <p:cNvSpPr txBox="1"/>
          <p:nvPr/>
        </p:nvSpPr>
        <p:spPr>
          <a:xfrm>
            <a:off x="7132320" y="4864607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Secrets &amp; ConfigMaps</a:t>
            </a:r>
            <a:endParaRPr/>
          </a:p>
        </p:txBody>
      </p:sp>
      <p:sp>
        <p:nvSpPr>
          <p:cNvPr id="598" name="Google Shape;598;p32"/>
          <p:cNvSpPr txBox="1"/>
          <p:nvPr/>
        </p:nvSpPr>
        <p:spPr>
          <a:xfrm>
            <a:off x="7132320" y="5257800"/>
            <a:ext cx="42062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Database credentials and environment variables are decoupled from container code.</a:t>
            </a:r>
            <a:endParaRPr/>
          </a:p>
        </p:txBody>
      </p:sp>
      <p:sp>
        <p:nvSpPr>
          <p:cNvPr id="599" name="Google Shape;599;p32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21 / 30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3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3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3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6 · KUBERNETES</a:t>
            </a:r>
            <a:endParaRPr/>
          </a:p>
        </p:txBody>
      </p:sp>
      <p:sp>
        <p:nvSpPr>
          <p:cNvPr id="607" name="Google Shape;607;p33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Cluster Evidence — Running Pods</a:t>
            </a:r>
            <a:endParaRPr/>
          </a:p>
        </p:txBody>
      </p:sp>
      <p:sp>
        <p:nvSpPr>
          <p:cNvPr id="608" name="Google Shape;608;p33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Proof that backend, frontend, and database pods are running and healthy on AWS EKS.</a:t>
            </a:r>
            <a:endParaRPr/>
          </a:p>
        </p:txBody>
      </p:sp>
      <p:sp>
        <p:nvSpPr>
          <p:cNvPr id="609" name="Google Shape;609;p33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3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.png" id="611" name="Google Shape;6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512" y="1801368"/>
            <a:ext cx="4670575" cy="4416551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3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3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CLUSTER STATE VERIFICATION</a:t>
            </a:r>
            <a:endParaRPr/>
          </a:p>
        </p:txBody>
      </p:sp>
      <p:sp>
        <p:nvSpPr>
          <p:cNvPr id="614" name="Google Shape;614;p33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  backend-pod</a:t>
            </a:r>
            <a:endParaRPr/>
          </a:p>
        </p:txBody>
      </p:sp>
      <p:sp>
        <p:nvSpPr>
          <p:cNvPr id="615" name="Google Shape;615;p33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FastAPI REST server running and bound to port 8000, passing readiness probes.</a:t>
            </a:r>
            <a:endParaRPr/>
          </a:p>
        </p:txBody>
      </p:sp>
      <p:sp>
        <p:nvSpPr>
          <p:cNvPr id="616" name="Google Shape;616;p33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  frontend-pod</a:t>
            </a:r>
            <a:endParaRPr/>
          </a:p>
        </p:txBody>
      </p:sp>
      <p:sp>
        <p:nvSpPr>
          <p:cNvPr id="617" name="Google Shape;617;p33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React single-page application served via optimized NGINX container on port 80.</a:t>
            </a:r>
            <a:endParaRPr/>
          </a:p>
        </p:txBody>
      </p:sp>
      <p:sp>
        <p:nvSpPr>
          <p:cNvPr id="618" name="Google Shape;618;p33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  postgres-pod</a:t>
            </a:r>
            <a:endParaRPr/>
          </a:p>
        </p:txBody>
      </p:sp>
      <p:sp>
        <p:nvSpPr>
          <p:cNvPr id="619" name="Google Shape;619;p33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PostgreSQL database running with attached EBS persistent volume claim.</a:t>
            </a:r>
            <a:endParaRPr/>
          </a:p>
        </p:txBody>
      </p:sp>
      <p:sp>
        <p:nvSpPr>
          <p:cNvPr id="620" name="Google Shape;620;p33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☸  Zero Restarts</a:t>
            </a:r>
            <a:endParaRPr/>
          </a:p>
        </p:txBody>
      </p:sp>
      <p:sp>
        <p:nvSpPr>
          <p:cNvPr id="621" name="Google Shape;621;p33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Pods show 0 restarts and status `Running`, confirming stable memory and CPU allocation.</a:t>
            </a:r>
            <a:endParaRPr/>
          </a:p>
        </p:txBody>
      </p:sp>
      <p:sp>
        <p:nvSpPr>
          <p:cNvPr id="622" name="Google Shape;622;p33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 / 30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4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6 · KUBERNETES</a:t>
            </a:r>
            <a:endParaRPr/>
          </a:p>
        </p:txBody>
      </p:sp>
      <p:sp>
        <p:nvSpPr>
          <p:cNvPr id="630" name="Google Shape;630;p34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Services Networking &amp; Helm Release</a:t>
            </a:r>
            <a:endParaRPr/>
          </a:p>
        </p:txBody>
      </p:sp>
      <p:sp>
        <p:nvSpPr>
          <p:cNvPr id="631" name="Google Shape;631;p34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Routing traffic to pods and verifying Helm deployment release status.</a:t>
            </a:r>
            <a:endParaRPr/>
          </a:p>
        </p:txBody>
      </p:sp>
      <p:sp>
        <p:nvSpPr>
          <p:cNvPr id="632" name="Google Shape;632;p34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4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4"/>
          <p:cNvSpPr txBox="1"/>
          <p:nvPr/>
        </p:nvSpPr>
        <p:spPr>
          <a:xfrm>
            <a:off x="731520" y="180906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kubectl get services -n labtrack</a:t>
            </a:r>
            <a:endParaRPr/>
          </a:p>
        </p:txBody>
      </p:sp>
      <p:sp>
        <p:nvSpPr>
          <p:cNvPr id="635" name="Google Shape;635;p34"/>
          <p:cNvSpPr txBox="1"/>
          <p:nvPr/>
        </p:nvSpPr>
        <p:spPr>
          <a:xfrm>
            <a:off x="3017520" y="1824531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ClusterIP &amp; NodePort</a:t>
            </a:r>
            <a:endParaRPr/>
          </a:p>
        </p:txBody>
      </p:sp>
      <p:pic>
        <p:nvPicPr>
          <p:cNvPr descr="2.png" id="636" name="Google Shape;63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292240"/>
            <a:ext cx="5120640" cy="3434806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4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.png" id="638" name="Google Shape;63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2402041"/>
            <a:ext cx="5120640" cy="3215204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34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 / 30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35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5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5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7 · MONITORING</a:t>
            </a:r>
            <a:endParaRPr/>
          </a:p>
        </p:txBody>
      </p:sp>
      <p:sp>
        <p:nvSpPr>
          <p:cNvPr id="647" name="Google Shape;647;p35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Observability — Prometheus &amp; Grafana</a:t>
            </a:r>
            <a:endParaRPr/>
          </a:p>
        </p:txBody>
      </p:sp>
      <p:sp>
        <p:nvSpPr>
          <p:cNvPr id="648" name="Google Shape;648;p35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24/7 monitoring ensures we detect performance degradation and errors before users do.</a:t>
            </a:r>
            <a:endParaRPr/>
          </a:p>
        </p:txBody>
      </p:sp>
      <p:sp>
        <p:nvSpPr>
          <p:cNvPr id="649" name="Google Shape;649;p35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/>
          <p:nvPr/>
        </p:nvSpPr>
        <p:spPr>
          <a:xfrm>
            <a:off x="548640" y="1234440"/>
            <a:ext cx="11091672" cy="1371600"/>
          </a:xfrm>
          <a:prstGeom prst="roundRect">
            <a:avLst>
              <a:gd fmla="val 16667" name="adj"/>
            </a:avLst>
          </a:prstGeom>
          <a:solidFill>
            <a:srgbClr val="221208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5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🏎️   The Modern Car Dashboard Analogy</a:t>
            </a:r>
            <a:endParaRPr/>
          </a:p>
        </p:txBody>
      </p:sp>
      <p:sp>
        <p:nvSpPr>
          <p:cNvPr id="652" name="Google Shape;652;p35"/>
          <p:cNvSpPr txBox="1"/>
          <p:nvPr/>
        </p:nvSpPr>
        <p:spPr>
          <a:xfrm>
            <a:off x="822960" y="1828800"/>
            <a:ext cx="10515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You wouldn't drive a car without a speedometer, fuel gauge, or check-engine light.</a:t>
            </a:r>
            <a:b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Prometheus acts as the engine sensors recording vitals, while Grafana is the sleek dashboard displaying speed and alarms.</a:t>
            </a:r>
            <a:endParaRPr/>
          </a:p>
        </p:txBody>
      </p:sp>
      <p:sp>
        <p:nvSpPr>
          <p:cNvPr id="653" name="Google Shape;653;p35"/>
          <p:cNvSpPr/>
          <p:nvPr/>
        </p:nvSpPr>
        <p:spPr>
          <a:xfrm>
            <a:off x="548640" y="283464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5"/>
          <p:cNvSpPr txBox="1"/>
          <p:nvPr/>
        </p:nvSpPr>
        <p:spPr>
          <a:xfrm>
            <a:off x="822959" y="31089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📡</a:t>
            </a:r>
            <a:endParaRPr/>
          </a:p>
        </p:txBody>
      </p:sp>
      <p:sp>
        <p:nvSpPr>
          <p:cNvPr id="655" name="Google Shape;655;p35"/>
          <p:cNvSpPr txBox="1"/>
          <p:nvPr/>
        </p:nvSpPr>
        <p:spPr>
          <a:xfrm>
            <a:off x="822959" y="38404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Prometheus — Metrics Collector</a:t>
            </a:r>
            <a:endParaRPr/>
          </a:p>
        </p:txBody>
      </p:sp>
      <p:sp>
        <p:nvSpPr>
          <p:cNvPr id="656" name="Google Shape;656;p35"/>
          <p:cNvSpPr txBox="1"/>
          <p:nvPr/>
        </p:nvSpPr>
        <p:spPr>
          <a:xfrm>
            <a:off x="822959" y="45262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Scrapes application metrics every 15 seconds over HTTP /metrics. Collects request rates, error codes, and latencies.</a:t>
            </a:r>
            <a:endParaRPr/>
          </a:p>
        </p:txBody>
      </p:sp>
      <p:sp>
        <p:nvSpPr>
          <p:cNvPr id="657" name="Google Shape;657;p35"/>
          <p:cNvSpPr/>
          <p:nvPr/>
        </p:nvSpPr>
        <p:spPr>
          <a:xfrm>
            <a:off x="4343400" y="283464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 txBox="1"/>
          <p:nvPr/>
        </p:nvSpPr>
        <p:spPr>
          <a:xfrm>
            <a:off x="4617720" y="31089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659" name="Google Shape;659;p35"/>
          <p:cNvSpPr txBox="1"/>
          <p:nvPr/>
        </p:nvSpPr>
        <p:spPr>
          <a:xfrm>
            <a:off x="4617720" y="38404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Grafana — Live Visualizer</a:t>
            </a:r>
            <a:endParaRPr/>
          </a:p>
        </p:txBody>
      </p:sp>
      <p:sp>
        <p:nvSpPr>
          <p:cNvPr id="660" name="Google Shape;660;p35"/>
          <p:cNvSpPr txBox="1"/>
          <p:nvPr/>
        </p:nvSpPr>
        <p:spPr>
          <a:xfrm>
            <a:off x="4617720" y="45262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Queries Prometheus data and converts raw time-series numbers into intuitive, real-time visual charts and dashboards.</a:t>
            </a:r>
            <a:endParaRPr/>
          </a:p>
        </p:txBody>
      </p:sp>
      <p:sp>
        <p:nvSpPr>
          <p:cNvPr id="661" name="Google Shape;661;p35"/>
          <p:cNvSpPr/>
          <p:nvPr/>
        </p:nvSpPr>
        <p:spPr>
          <a:xfrm>
            <a:off x="8138160" y="2834640"/>
            <a:ext cx="3520440" cy="34747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5"/>
          <p:cNvSpPr txBox="1"/>
          <p:nvPr/>
        </p:nvSpPr>
        <p:spPr>
          <a:xfrm>
            <a:off x="8412480" y="310896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🚨</a:t>
            </a:r>
            <a:endParaRPr/>
          </a:p>
        </p:txBody>
      </p:sp>
      <p:sp>
        <p:nvSpPr>
          <p:cNvPr id="663" name="Google Shape;663;p35"/>
          <p:cNvSpPr txBox="1"/>
          <p:nvPr/>
        </p:nvSpPr>
        <p:spPr>
          <a:xfrm>
            <a:off x="8412480" y="3840480"/>
            <a:ext cx="2971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Automated Alerts</a:t>
            </a:r>
            <a:endParaRPr/>
          </a:p>
        </p:txBody>
      </p:sp>
      <p:sp>
        <p:nvSpPr>
          <p:cNvPr id="664" name="Google Shape;664;p35"/>
          <p:cNvSpPr txBox="1"/>
          <p:nvPr/>
        </p:nvSpPr>
        <p:spPr>
          <a:xfrm>
            <a:off x="8412480" y="4526280"/>
            <a:ext cx="29718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HTTP 500 error rates exceed 1% or API latency spikes over 500ms, alerts trigger immediately for engineering triage.</a:t>
            </a:r>
            <a:endParaRPr/>
          </a:p>
        </p:txBody>
      </p:sp>
      <p:sp>
        <p:nvSpPr>
          <p:cNvPr id="665" name="Google Shape;665;p35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24 / 30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6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6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6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7 · MONITORING</a:t>
            </a:r>
            <a:endParaRPr/>
          </a:p>
        </p:txBody>
      </p:sp>
      <p:sp>
        <p:nvSpPr>
          <p:cNvPr id="673" name="Google Shape;673;p36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Prometheus Targets &amp; /metrics Endpoint</a:t>
            </a:r>
            <a:endParaRPr/>
          </a:p>
        </p:txBody>
      </p:sp>
      <p:sp>
        <p:nvSpPr>
          <p:cNvPr id="674" name="Google Shape;674;p36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Verifying that Prometheus is scraping live metrics from application endpoints.</a:t>
            </a:r>
            <a:endParaRPr/>
          </a:p>
        </p:txBody>
      </p:sp>
      <p:sp>
        <p:nvSpPr>
          <p:cNvPr id="675" name="Google Shape;675;p36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6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1.png" id="677" name="Google Shape;67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198995"/>
            <a:ext cx="5120640" cy="362129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36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6"/>
          <p:cNvSpPr txBox="1"/>
          <p:nvPr/>
        </p:nvSpPr>
        <p:spPr>
          <a:xfrm>
            <a:off x="6400800" y="156741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curl /metrics — Raw Time-Series Data</a:t>
            </a:r>
            <a:endParaRPr/>
          </a:p>
        </p:txBody>
      </p:sp>
      <p:sp>
        <p:nvSpPr>
          <p:cNvPr id="680" name="Google Shape;680;p36"/>
          <p:cNvSpPr txBox="1"/>
          <p:nvPr/>
        </p:nvSpPr>
        <p:spPr>
          <a:xfrm>
            <a:off x="8686800" y="1636781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FastAPI Prometheus Exporter</a:t>
            </a:r>
            <a:endParaRPr/>
          </a:p>
        </p:txBody>
      </p:sp>
      <p:pic>
        <p:nvPicPr>
          <p:cNvPr descr="2.png" id="681" name="Google Shape;681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2305878"/>
            <a:ext cx="5120640" cy="3407530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36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25 / 30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7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7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37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7 · MONITORING</a:t>
            </a:r>
            <a:endParaRPr/>
          </a:p>
        </p:txBody>
      </p:sp>
      <p:sp>
        <p:nvSpPr>
          <p:cNvPr id="690" name="Google Shape;690;p37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— Real-Time Production Dashboard</a:t>
            </a:r>
            <a:endParaRPr/>
          </a:p>
        </p:txBody>
      </p:sp>
      <p:sp>
        <p:nvSpPr>
          <p:cNvPr id="691" name="Google Shape;691;p37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Comprehensive observability view showcasing system uptime, throughput, and latencies.</a:t>
            </a:r>
            <a:endParaRPr/>
          </a:p>
        </p:txBody>
      </p:sp>
      <p:sp>
        <p:nvSpPr>
          <p:cNvPr id="692" name="Google Shape;692;p37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7"/>
          <p:cNvSpPr/>
          <p:nvPr/>
        </p:nvSpPr>
        <p:spPr>
          <a:xfrm>
            <a:off x="548640" y="1234440"/>
            <a:ext cx="11091672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7"/>
          <p:cNvSpPr txBox="1"/>
          <p:nvPr/>
        </p:nvSpPr>
        <p:spPr>
          <a:xfrm>
            <a:off x="1321795" y="1344168"/>
            <a:ext cx="1072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Dashboard: LabTrack Application Health Overview</a:t>
            </a:r>
            <a:endParaRPr/>
          </a:p>
        </p:txBody>
      </p:sp>
      <p:sp>
        <p:nvSpPr>
          <p:cNvPr id="695" name="Google Shape;695;p37"/>
          <p:cNvSpPr txBox="1"/>
          <p:nvPr/>
        </p:nvSpPr>
        <p:spPr>
          <a:xfrm>
            <a:off x="7922707" y="1364432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Live Production Telemetry</a:t>
            </a:r>
            <a:endParaRPr/>
          </a:p>
        </p:txBody>
      </p:sp>
      <p:pic>
        <p:nvPicPr>
          <p:cNvPr descr="3.png" id="696" name="Google Shape;69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7503" y="1801368"/>
            <a:ext cx="7033945" cy="4416551"/>
          </a:xfrm>
          <a:prstGeom prst="rect">
            <a:avLst/>
          </a:prstGeom>
          <a:noFill/>
          <a:ln>
            <a:noFill/>
          </a:ln>
        </p:spPr>
      </p:pic>
      <p:sp>
        <p:nvSpPr>
          <p:cNvPr id="697" name="Google Shape;697;p37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26 / 30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8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3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38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STEP 7 · MONITORING</a:t>
            </a:r>
            <a:endParaRPr/>
          </a:p>
        </p:txBody>
      </p:sp>
      <p:sp>
        <p:nvSpPr>
          <p:cNvPr id="705" name="Google Shape;705;p38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Grafana Panels — Throughput &amp; Latency</a:t>
            </a:r>
            <a:endParaRPr/>
          </a:p>
        </p:txBody>
      </p:sp>
      <p:sp>
        <p:nvSpPr>
          <p:cNvPr id="706" name="Google Shape;706;p38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Granular panel analysis of incoming HTTP traffic volume and endpoint response times.</a:t>
            </a:r>
            <a:endParaRPr/>
          </a:p>
        </p:txBody>
      </p:sp>
      <p:sp>
        <p:nvSpPr>
          <p:cNvPr id="707" name="Google Shape;707;p38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8"/>
          <p:cNvSpPr/>
          <p:nvPr/>
        </p:nvSpPr>
        <p:spPr>
          <a:xfrm>
            <a:off x="54864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00E5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8"/>
          <p:cNvSpPr txBox="1"/>
          <p:nvPr/>
        </p:nvSpPr>
        <p:spPr>
          <a:xfrm>
            <a:off x="1112520" y="1344168"/>
            <a:ext cx="5029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Panel: HTTP Request Throughput (req/s)</a:t>
            </a:r>
            <a:endParaRPr/>
          </a:p>
        </p:txBody>
      </p:sp>
      <p:sp>
        <p:nvSpPr>
          <p:cNvPr id="710" name="Google Shape;710;p38"/>
          <p:cNvSpPr txBox="1"/>
          <p:nvPr/>
        </p:nvSpPr>
        <p:spPr>
          <a:xfrm>
            <a:off x="2636520" y="1362456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Traffic Volume</a:t>
            </a:r>
            <a:endParaRPr/>
          </a:p>
        </p:txBody>
      </p:sp>
      <p:pic>
        <p:nvPicPr>
          <p:cNvPr descr="4.png" id="711" name="Google Shape;71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2402041"/>
            <a:ext cx="5120640" cy="3215204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38"/>
          <p:cNvSpPr/>
          <p:nvPr/>
        </p:nvSpPr>
        <p:spPr>
          <a:xfrm>
            <a:off x="6217920" y="1234440"/>
            <a:ext cx="539496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5.png" id="713" name="Google Shape;71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79" y="2398558"/>
            <a:ext cx="5120640" cy="3222171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38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27 / 30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9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9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39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722" name="Google Shape;722;p39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DevSecOps — Automated Vulnerability Scanning</a:t>
            </a:r>
            <a:endParaRPr/>
          </a:p>
        </p:txBody>
      </p:sp>
      <p:sp>
        <p:nvSpPr>
          <p:cNvPr id="723" name="Google Shape;723;p39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Trivy scans container images layer-by-layer before deployment, enforcing security by design.</a:t>
            </a:r>
            <a:endParaRPr/>
          </a:p>
        </p:txBody>
      </p:sp>
      <p:sp>
        <p:nvSpPr>
          <p:cNvPr id="724" name="Google Shape;724;p39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9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9"/>
          <p:cNvSpPr txBox="1"/>
          <p:nvPr/>
        </p:nvSpPr>
        <p:spPr>
          <a:xfrm>
            <a:off x="1036320" y="1344168"/>
            <a:ext cx="6766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Trivy CVE Vulnerability Scan Log</a:t>
            </a:r>
            <a:endParaRPr/>
          </a:p>
        </p:txBody>
      </p:sp>
      <p:sp>
        <p:nvSpPr>
          <p:cNvPr id="727" name="Google Shape;727;p39"/>
          <p:cNvSpPr txBox="1"/>
          <p:nvPr/>
        </p:nvSpPr>
        <p:spPr>
          <a:xfrm>
            <a:off x="4373880" y="1362456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Severity Audit</a:t>
            </a:r>
            <a:endParaRPr/>
          </a:p>
        </p:txBody>
      </p:sp>
      <p:pic>
        <p:nvPicPr>
          <p:cNvPr descr="trivy_log.png" id="728" name="Google Shape;72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9" y="1850730"/>
            <a:ext cx="6858000" cy="4317826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p39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39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SECURITY GATES</a:t>
            </a:r>
            <a:endParaRPr/>
          </a:p>
        </p:txBody>
      </p:sp>
      <p:sp>
        <p:nvSpPr>
          <p:cNvPr id="731" name="Google Shape;731;p39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Shift-Left Security</a:t>
            </a:r>
            <a:endParaRPr/>
          </a:p>
        </p:txBody>
      </p:sp>
      <p:sp>
        <p:nvSpPr>
          <p:cNvPr id="732" name="Google Shape;732;p39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Security audits happen during code build, not weeks after production release.</a:t>
            </a:r>
            <a:endParaRPr/>
          </a:p>
        </p:txBody>
      </p:sp>
      <p:sp>
        <p:nvSpPr>
          <p:cNvPr id="733" name="Google Shape;733;p39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CVE Database Matching</a:t>
            </a:r>
            <a:endParaRPr/>
          </a:p>
        </p:txBody>
      </p:sp>
      <p:sp>
        <p:nvSpPr>
          <p:cNvPr id="734" name="Google Shape;734;p39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Trivy checks base OS packages and Python libraries against global CVE registries.</a:t>
            </a:r>
            <a:endParaRPr/>
          </a:p>
        </p:txBody>
      </p:sp>
      <p:sp>
        <p:nvSpPr>
          <p:cNvPr id="735" name="Google Shape;735;p39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Critical Threshold Gate</a:t>
            </a:r>
            <a:endParaRPr/>
          </a:p>
        </p:txBody>
      </p:sp>
      <p:sp>
        <p:nvSpPr>
          <p:cNvPr id="736" name="Google Shape;736;p39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If any CRITICAL vulnerability is uncovered, the pipeline fails and stops deployment.</a:t>
            </a:r>
            <a:endParaRPr/>
          </a:p>
        </p:txBody>
      </p:sp>
      <p:sp>
        <p:nvSpPr>
          <p:cNvPr id="737" name="Google Shape;737;p39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  Zero Manual Compliance</a:t>
            </a:r>
            <a:endParaRPr/>
          </a:p>
        </p:txBody>
      </p:sp>
      <p:sp>
        <p:nvSpPr>
          <p:cNvPr id="738" name="Google Shape;738;p39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Audit logs remain permanently attached to GitHub Actions builds for security reviews.</a:t>
            </a:r>
            <a:endParaRPr/>
          </a:p>
        </p:txBody>
      </p:sp>
      <p:sp>
        <p:nvSpPr>
          <p:cNvPr id="739" name="Google Shape;739;p39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28 / 30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40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548640" y="201168"/>
            <a:ext cx="1737360" cy="310896"/>
          </a:xfrm>
          <a:prstGeom prst="roundRect">
            <a:avLst>
              <a:gd fmla="val 16667" name="adj"/>
            </a:avLst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LIFECYCLE</a:t>
            </a:r>
            <a:endParaRPr/>
          </a:p>
        </p:txBody>
      </p:sp>
      <p:sp>
        <p:nvSpPr>
          <p:cNvPr id="747" name="Google Shape;747;p40"/>
          <p:cNvSpPr txBox="1"/>
          <p:nvPr/>
        </p:nvSpPr>
        <p:spPr>
          <a:xfrm>
            <a:off x="2423160" y="146304"/>
            <a:ext cx="91440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Teardown — Zero Cloud Waste</a:t>
            </a:r>
            <a:endParaRPr/>
          </a:p>
        </p:txBody>
      </p:sp>
      <p:sp>
        <p:nvSpPr>
          <p:cNvPr id="748" name="Google Shape;748;p40"/>
          <p:cNvSpPr txBox="1"/>
          <p:nvPr/>
        </p:nvSpPr>
        <p:spPr>
          <a:xfrm>
            <a:off x="548640" y="640080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Destroying cloud resources automatically with terraform destroy to prevent idle cloud billing.</a:t>
            </a:r>
            <a:endParaRPr/>
          </a:p>
        </p:txBody>
      </p:sp>
      <p:sp>
        <p:nvSpPr>
          <p:cNvPr id="749" name="Google Shape;749;p40"/>
          <p:cNvSpPr/>
          <p:nvPr/>
        </p:nvSpPr>
        <p:spPr>
          <a:xfrm>
            <a:off x="548640" y="987552"/>
            <a:ext cx="11091672" cy="13716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40"/>
          <p:cNvSpPr/>
          <p:nvPr/>
        </p:nvSpPr>
        <p:spPr>
          <a:xfrm>
            <a:off x="548640" y="1234440"/>
            <a:ext cx="713232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1202600" y="1359799"/>
            <a:ext cx="6295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terraform destroy  •  Clean Cloud Teardown</a:t>
            </a:r>
            <a:endParaRPr/>
          </a:p>
        </p:txBody>
      </p:sp>
      <p:sp>
        <p:nvSpPr>
          <p:cNvPr id="752" name="Google Shape;752;p40"/>
          <p:cNvSpPr txBox="1"/>
          <p:nvPr/>
        </p:nvSpPr>
        <p:spPr>
          <a:xfrm>
            <a:off x="4468880" y="1403606"/>
            <a:ext cx="2743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Destroy Complete</a:t>
            </a:r>
            <a:endParaRPr/>
          </a:p>
        </p:txBody>
      </p:sp>
      <p:pic>
        <p:nvPicPr>
          <p:cNvPr descr="destroy.png" id="753" name="Google Shape;75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2591" y="1801368"/>
            <a:ext cx="5824417" cy="4416551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40"/>
          <p:cNvSpPr/>
          <p:nvPr/>
        </p:nvSpPr>
        <p:spPr>
          <a:xfrm>
            <a:off x="7955279" y="1234440"/>
            <a:ext cx="3657600" cy="50749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0"/>
          <p:cNvSpPr txBox="1"/>
          <p:nvPr/>
        </p:nvSpPr>
        <p:spPr>
          <a:xfrm>
            <a:off x="8229600" y="1508760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CLOUD COST HYGIENE</a:t>
            </a:r>
            <a:endParaRPr/>
          </a:p>
        </p:txBody>
      </p:sp>
      <p:sp>
        <p:nvSpPr>
          <p:cNvPr id="756" name="Google Shape;756;p40"/>
          <p:cNvSpPr txBox="1"/>
          <p:nvPr/>
        </p:nvSpPr>
        <p:spPr>
          <a:xfrm>
            <a:off x="8229600" y="205740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🧹  Zero Idle Billing</a:t>
            </a:r>
            <a:endParaRPr/>
          </a:p>
        </p:txBody>
      </p:sp>
      <p:sp>
        <p:nvSpPr>
          <p:cNvPr id="757" name="Google Shape;757;p40"/>
          <p:cNvSpPr txBox="1"/>
          <p:nvPr/>
        </p:nvSpPr>
        <p:spPr>
          <a:xfrm>
            <a:off x="8229600" y="235000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NAT Gateways, Load Balancers, and EC2 nodes are fully terminated after demo.</a:t>
            </a:r>
            <a:endParaRPr/>
          </a:p>
        </p:txBody>
      </p:sp>
      <p:sp>
        <p:nvSpPr>
          <p:cNvPr id="758" name="Google Shape;758;p40"/>
          <p:cNvSpPr txBox="1"/>
          <p:nvPr/>
        </p:nvSpPr>
        <p:spPr>
          <a:xfrm>
            <a:off x="8229600" y="310896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🧹  No Orphaned Resources</a:t>
            </a:r>
            <a:endParaRPr/>
          </a:p>
        </p:txBody>
      </p:sp>
      <p:sp>
        <p:nvSpPr>
          <p:cNvPr id="759" name="Google Shape;759;p40"/>
          <p:cNvSpPr txBox="1"/>
          <p:nvPr/>
        </p:nvSpPr>
        <p:spPr>
          <a:xfrm>
            <a:off x="8229600" y="340156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Terraform state tracks every dependency; leaves zero dangling disks or unattached IPs.</a:t>
            </a:r>
            <a:endParaRPr/>
          </a:p>
        </p:txBody>
      </p:sp>
      <p:sp>
        <p:nvSpPr>
          <p:cNvPr id="760" name="Google Shape;760;p40"/>
          <p:cNvSpPr txBox="1"/>
          <p:nvPr/>
        </p:nvSpPr>
        <p:spPr>
          <a:xfrm>
            <a:off x="8229600" y="4160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🧹  True Reproducibility</a:t>
            </a:r>
            <a:endParaRPr/>
          </a:p>
        </p:txBody>
      </p:sp>
      <p:sp>
        <p:nvSpPr>
          <p:cNvPr id="761" name="Google Shape;761;p40"/>
          <p:cNvSpPr txBox="1"/>
          <p:nvPr/>
        </p:nvSpPr>
        <p:spPr>
          <a:xfrm>
            <a:off x="8229600" y="445312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Proves that the codebase contains 100% of the instructions needed to recreate the cluster.</a:t>
            </a:r>
            <a:endParaRPr/>
          </a:p>
        </p:txBody>
      </p:sp>
      <p:sp>
        <p:nvSpPr>
          <p:cNvPr id="762" name="Google Shape;762;p40"/>
          <p:cNvSpPr txBox="1"/>
          <p:nvPr/>
        </p:nvSpPr>
        <p:spPr>
          <a:xfrm>
            <a:off x="8229600" y="5212079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🧹  Production Discipline</a:t>
            </a:r>
            <a:endParaRPr/>
          </a:p>
        </p:txBody>
      </p:sp>
      <p:sp>
        <p:nvSpPr>
          <p:cNvPr id="763" name="Google Shape;763;p40"/>
          <p:cNvSpPr txBox="1"/>
          <p:nvPr/>
        </p:nvSpPr>
        <p:spPr>
          <a:xfrm>
            <a:off x="8229600" y="5504688"/>
            <a:ext cx="3108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Demonstrates professional DevOps maturity: deploy quickly, observe clearly, clean up completely.</a:t>
            </a:r>
            <a:endParaRPr/>
          </a:p>
        </p:txBody>
      </p:sp>
      <p:sp>
        <p:nvSpPr>
          <p:cNvPr id="764" name="Google Shape;764;p40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29 / 30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8B5CF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1"/>
          <p:cNvSpPr/>
          <p:nvPr/>
        </p:nvSpPr>
        <p:spPr>
          <a:xfrm>
            <a:off x="1097280" y="1005840"/>
            <a:ext cx="9994392" cy="4846320"/>
          </a:xfrm>
          <a:prstGeom prst="roundRect">
            <a:avLst>
              <a:gd fmla="val 16667" name="adj"/>
            </a:avLst>
          </a:prstGeom>
          <a:solidFill>
            <a:srgbClr val="111827"/>
          </a:solidFill>
          <a:ln cap="flat" cmpd="sng" w="19050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1"/>
          <p:cNvSpPr/>
          <p:nvPr/>
        </p:nvSpPr>
        <p:spPr>
          <a:xfrm>
            <a:off x="4754880" y="1463040"/>
            <a:ext cx="2651760" cy="347472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90D16"/>
                </a:solidFill>
                <a:latin typeface="Calibri"/>
                <a:ea typeface="Calibri"/>
                <a:cs typeface="Calibri"/>
                <a:sym typeface="Calibri"/>
              </a:rPr>
              <a:t>DEVOPS EXCELLENCE</a:t>
            </a:r>
            <a:endParaRPr/>
          </a:p>
        </p:txBody>
      </p:sp>
      <p:sp>
        <p:nvSpPr>
          <p:cNvPr id="773" name="Google Shape;773;p41"/>
          <p:cNvSpPr txBox="1"/>
          <p:nvPr/>
        </p:nvSpPr>
        <p:spPr>
          <a:xfrm>
            <a:off x="1371600" y="2011680"/>
            <a:ext cx="944575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sp>
        <p:nvSpPr>
          <p:cNvPr id="774" name="Google Shape;774;p41"/>
          <p:cNvSpPr txBox="1"/>
          <p:nvPr/>
        </p:nvSpPr>
        <p:spPr>
          <a:xfrm>
            <a:off x="1828800" y="3429000"/>
            <a:ext cx="8531352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Successfully demonstrated a complete production-grade DevOps lifecycle:</a:t>
            </a:r>
            <a:b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Code  ➔  Containers  ➔  CI/CD  ➔  IaC  ➔  Kubernetes  ➔  Observability</a:t>
            </a:r>
            <a:endParaRPr/>
          </a:p>
        </p:txBody>
      </p:sp>
      <p:sp>
        <p:nvSpPr>
          <p:cNvPr id="775" name="Google Shape;775;p41"/>
          <p:cNvSpPr/>
          <p:nvPr/>
        </p:nvSpPr>
        <p:spPr>
          <a:xfrm>
            <a:off x="3657600" y="4160520"/>
            <a:ext cx="4873752" cy="18288"/>
          </a:xfrm>
          <a:prstGeom prst="rect">
            <a:avLst/>
          </a:prstGeom>
          <a:solidFill>
            <a:srgbClr val="1F2D4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1"/>
          <p:cNvSpPr/>
          <p:nvPr/>
        </p:nvSpPr>
        <p:spPr>
          <a:xfrm>
            <a:off x="1325880" y="4434840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1"/>
          <p:cNvSpPr txBox="1"/>
          <p:nvPr/>
        </p:nvSpPr>
        <p:spPr>
          <a:xfrm>
            <a:off x="1325880" y="450799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778" name="Google Shape;778;p41"/>
          <p:cNvSpPr/>
          <p:nvPr/>
        </p:nvSpPr>
        <p:spPr>
          <a:xfrm>
            <a:off x="3246120" y="4434840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1"/>
          <p:cNvSpPr txBox="1"/>
          <p:nvPr/>
        </p:nvSpPr>
        <p:spPr>
          <a:xfrm>
            <a:off x="3246120" y="450799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</p:txBody>
      </p:sp>
      <p:sp>
        <p:nvSpPr>
          <p:cNvPr id="780" name="Google Shape;780;p41"/>
          <p:cNvSpPr/>
          <p:nvPr/>
        </p:nvSpPr>
        <p:spPr>
          <a:xfrm>
            <a:off x="5166360" y="4434840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5166360" y="450799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Docker</a:t>
            </a:r>
            <a:endParaRPr/>
          </a:p>
        </p:txBody>
      </p:sp>
      <p:sp>
        <p:nvSpPr>
          <p:cNvPr id="782" name="Google Shape;782;p41"/>
          <p:cNvSpPr/>
          <p:nvPr/>
        </p:nvSpPr>
        <p:spPr>
          <a:xfrm>
            <a:off x="7086600" y="4434840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1"/>
          <p:cNvSpPr txBox="1"/>
          <p:nvPr/>
        </p:nvSpPr>
        <p:spPr>
          <a:xfrm>
            <a:off x="7086600" y="450799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/>
          </a:p>
        </p:txBody>
      </p:sp>
      <p:sp>
        <p:nvSpPr>
          <p:cNvPr id="784" name="Google Shape;784;p41"/>
          <p:cNvSpPr/>
          <p:nvPr/>
        </p:nvSpPr>
        <p:spPr>
          <a:xfrm>
            <a:off x="9006840" y="4434840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1"/>
          <p:cNvSpPr txBox="1"/>
          <p:nvPr/>
        </p:nvSpPr>
        <p:spPr>
          <a:xfrm>
            <a:off x="9006840" y="4507992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AWS EKS</a:t>
            </a:r>
            <a:endParaRPr/>
          </a:p>
        </p:txBody>
      </p:sp>
      <p:sp>
        <p:nvSpPr>
          <p:cNvPr id="786" name="Google Shape;786;p41"/>
          <p:cNvSpPr/>
          <p:nvPr/>
        </p:nvSpPr>
        <p:spPr>
          <a:xfrm>
            <a:off x="1325880" y="4910327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41"/>
          <p:cNvSpPr txBox="1"/>
          <p:nvPr/>
        </p:nvSpPr>
        <p:spPr>
          <a:xfrm>
            <a:off x="1325880" y="4983479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Terraform</a:t>
            </a:r>
            <a:endParaRPr/>
          </a:p>
        </p:txBody>
      </p:sp>
      <p:sp>
        <p:nvSpPr>
          <p:cNvPr id="788" name="Google Shape;788;p41"/>
          <p:cNvSpPr/>
          <p:nvPr/>
        </p:nvSpPr>
        <p:spPr>
          <a:xfrm>
            <a:off x="3246120" y="4910327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41"/>
          <p:cNvSpPr txBox="1"/>
          <p:nvPr/>
        </p:nvSpPr>
        <p:spPr>
          <a:xfrm>
            <a:off x="3246120" y="4983479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Helm</a:t>
            </a:r>
            <a:endParaRPr/>
          </a:p>
        </p:txBody>
      </p:sp>
      <p:sp>
        <p:nvSpPr>
          <p:cNvPr id="790" name="Google Shape;790;p41"/>
          <p:cNvSpPr/>
          <p:nvPr/>
        </p:nvSpPr>
        <p:spPr>
          <a:xfrm>
            <a:off x="5166360" y="4910327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41"/>
          <p:cNvSpPr txBox="1"/>
          <p:nvPr/>
        </p:nvSpPr>
        <p:spPr>
          <a:xfrm>
            <a:off x="5166360" y="4983479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Prometheus</a:t>
            </a:r>
            <a:endParaRPr/>
          </a:p>
        </p:txBody>
      </p:sp>
      <p:sp>
        <p:nvSpPr>
          <p:cNvPr id="792" name="Google Shape;792;p41"/>
          <p:cNvSpPr/>
          <p:nvPr/>
        </p:nvSpPr>
        <p:spPr>
          <a:xfrm>
            <a:off x="7086600" y="4910327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1"/>
          <p:cNvSpPr txBox="1"/>
          <p:nvPr/>
        </p:nvSpPr>
        <p:spPr>
          <a:xfrm>
            <a:off x="7086600" y="4983479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Grafana</a:t>
            </a:r>
            <a:endParaRPr/>
          </a:p>
        </p:txBody>
      </p:sp>
      <p:sp>
        <p:nvSpPr>
          <p:cNvPr id="794" name="Google Shape;794;p41"/>
          <p:cNvSpPr/>
          <p:nvPr/>
        </p:nvSpPr>
        <p:spPr>
          <a:xfrm>
            <a:off x="9006840" y="4910327"/>
            <a:ext cx="1783080" cy="347472"/>
          </a:xfrm>
          <a:prstGeom prst="roundRect">
            <a:avLst>
              <a:gd fmla="val 16667" name="adj"/>
            </a:avLst>
          </a:prstGeom>
          <a:solidFill>
            <a:srgbClr val="162033"/>
          </a:solidFill>
          <a:ln cap="flat" cmpd="sng" w="15225">
            <a:solidFill>
              <a:srgbClr val="1F2D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1"/>
          <p:cNvSpPr txBox="1"/>
          <p:nvPr/>
        </p:nvSpPr>
        <p:spPr>
          <a:xfrm>
            <a:off x="9006840" y="4983479"/>
            <a:ext cx="1783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0E5FF"/>
                </a:solidFill>
                <a:latin typeface="Calibri"/>
                <a:ea typeface="Calibri"/>
                <a:cs typeface="Calibri"/>
                <a:sym typeface="Calibri"/>
              </a:rPr>
              <a:t>Trivy</a:t>
            </a:r>
            <a:endParaRPr/>
          </a:p>
        </p:txBody>
      </p:sp>
      <p:sp>
        <p:nvSpPr>
          <p:cNvPr id="796" name="Google Shape;796;p41"/>
          <p:cNvSpPr txBox="1"/>
          <p:nvPr/>
        </p:nvSpPr>
        <p:spPr>
          <a:xfrm>
            <a:off x="1371600" y="5486400"/>
            <a:ext cx="9445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Mayank Soni  •  DevOps Final Project  •  Cloud &amp; Automation</a:t>
            </a:r>
            <a:endParaRPr/>
          </a:p>
        </p:txBody>
      </p:sp>
      <p:sp>
        <p:nvSpPr>
          <p:cNvPr id="797" name="Google Shape;797;p41"/>
          <p:cNvSpPr txBox="1"/>
          <p:nvPr/>
        </p:nvSpPr>
        <p:spPr>
          <a:xfrm>
            <a:off x="10972800" y="6537960"/>
            <a:ext cx="731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30 / 30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